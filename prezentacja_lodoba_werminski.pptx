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sldIdLst>
    <p:sldId id="256" r:id="rId2"/>
    <p:sldId id="257" r:id="rId3"/>
    <p:sldId id="258" r:id="rId4"/>
    <p:sldId id="267" r:id="rId5"/>
    <p:sldId id="259" r:id="rId6"/>
    <p:sldId id="260" r:id="rId7"/>
    <p:sldId id="268" r:id="rId8"/>
    <p:sldId id="261" r:id="rId9"/>
    <p:sldId id="269" r:id="rId10"/>
    <p:sldId id="262" r:id="rId11"/>
    <p:sldId id="270" r:id="rId12"/>
    <p:sldId id="263" r:id="rId13"/>
    <p:sldId id="273" r:id="rId14"/>
    <p:sldId id="274" r:id="rId15"/>
    <p:sldId id="264" r:id="rId16"/>
    <p:sldId id="276" r:id="rId17"/>
    <p:sldId id="275" r:id="rId18"/>
    <p:sldId id="271" r:id="rId19"/>
    <p:sldId id="272" r:id="rId20"/>
    <p:sldId id="265" r:id="rId21"/>
    <p:sldId id="26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5" autoAdjust="0"/>
    <p:restoredTop sz="94660"/>
  </p:normalViewPr>
  <p:slideViewPr>
    <p:cSldViewPr snapToGrid="0">
      <p:cViewPr varScale="1">
        <p:scale>
          <a:sx n="102" d="100"/>
          <a:sy n="102" d="100"/>
        </p:scale>
        <p:origin x="24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ajd tytułowy">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pl-PL"/>
              <a:t>Kliknij, aby edytować styl</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a:xfrm>
            <a:off x="1876424" y="5410201"/>
            <a:ext cx="5124886" cy="365125"/>
          </a:xfrm>
        </p:spPr>
        <p:txBody>
          <a:bodyPr/>
          <a:lstStyle/>
          <a:p>
            <a:endParaRPr lang="pl-PL"/>
          </a:p>
        </p:txBody>
      </p:sp>
      <p:sp>
        <p:nvSpPr>
          <p:cNvPr id="6" name="Slide Number Placeholder 5"/>
          <p:cNvSpPr>
            <a:spLocks noGrp="1"/>
          </p:cNvSpPr>
          <p:nvPr>
            <p:ph type="sldNum" sz="quarter" idx="12"/>
          </p:nvPr>
        </p:nvSpPr>
        <p:spPr>
          <a:xfrm>
            <a:off x="9896911" y="5410199"/>
            <a:ext cx="771089" cy="365125"/>
          </a:xfrm>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1246487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0418527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pl-PL"/>
              <a:t>Kliknij, aby edytować styl</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578376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7814806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pl-PL"/>
              <a:t>Kliknij, aby edytować styl</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Content Placeholder 3"/>
          <p:cNvSpPr>
            <a:spLocks noGrp="1"/>
          </p:cNvSpPr>
          <p:nvPr>
            <p:ph sz="half" idx="2"/>
          </p:nvPr>
        </p:nvSpPr>
        <p:spPr>
          <a:xfrm>
            <a:off x="1141410" y="3073397"/>
            <a:ext cx="4878391" cy="2717801"/>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Content Placeholder 5"/>
          <p:cNvSpPr>
            <a:spLocks noGrp="1"/>
          </p:cNvSpPr>
          <p:nvPr>
            <p:ph sz="quarter" idx="4"/>
          </p:nvPr>
        </p:nvSpPr>
        <p:spPr>
          <a:xfrm>
            <a:off x="6172200" y="3073397"/>
            <a:ext cx="4875210" cy="2717801"/>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6E37D865-3556-4CE5-B574-A35DADBAEBFC}" type="datetimeFigureOut">
              <a:rPr lang="pl-PL" smtClean="0"/>
              <a:t>08.01.2026</a:t>
            </a:fld>
            <a:endParaRPr lang="pl-PL"/>
          </a:p>
        </p:txBody>
      </p:sp>
      <p:sp>
        <p:nvSpPr>
          <p:cNvPr id="8" name="Footer Placeholder 7"/>
          <p:cNvSpPr>
            <a:spLocks noGrp="1"/>
          </p:cNvSpPr>
          <p:nvPr>
            <p:ph type="ftr" sz="quarter" idx="11"/>
          </p:nvPr>
        </p:nvSpPr>
        <p:spPr/>
        <p:txBody>
          <a:bodyPr/>
          <a:lstStyle/>
          <a:p>
            <a:endParaRPr lang="pl-PL"/>
          </a:p>
        </p:txBody>
      </p:sp>
      <p:sp>
        <p:nvSpPr>
          <p:cNvPr id="9" name="Slide Number Placeholder 8"/>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703723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6E37D865-3556-4CE5-B574-A35DADBAEBFC}" type="datetimeFigureOut">
              <a:rPr lang="pl-PL" smtClean="0"/>
              <a:t>08.01.2026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0819557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E37D865-3556-4CE5-B574-A35DADBAEBFC}" type="datetimeFigureOut">
              <a:rPr lang="pl-PL" smtClean="0"/>
              <a:t>08.01.2026</a:t>
            </a:fld>
            <a:endParaRPr lang="pl-PL"/>
          </a:p>
        </p:txBody>
      </p:sp>
      <p:sp>
        <p:nvSpPr>
          <p:cNvPr id="3" name="Footer Placeholder 2"/>
          <p:cNvSpPr>
            <a:spLocks noGrp="1"/>
          </p:cNvSpPr>
          <p:nvPr>
            <p:ph type="ftr" sz="quarter" idx="11"/>
          </p:nvPr>
        </p:nvSpPr>
        <p:spPr/>
        <p:txBody>
          <a:bodyPr/>
          <a:lstStyle/>
          <a:p>
            <a:endParaRPr lang="pl-PL"/>
          </a:p>
        </p:txBody>
      </p:sp>
      <p:sp>
        <p:nvSpPr>
          <p:cNvPr id="4" name="Slide Number Placeholder 3"/>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2786478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pl-PL"/>
              <a:t>Kliknij, aby edytować styl</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7334137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pl-PL"/>
              <a:t>Kliknij, aby edytować styl</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l-PL"/>
              <a:t>Kliknij ikonę, aby dodać obraz</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397352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Obraz panoramiczny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pl-PL"/>
              <a:t>Kliknij, aby edytować styl</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pl-PL"/>
              <a:t>Kliknij ikonę, aby dodać obraz</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636434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ytuł i podpis">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pl-PL"/>
              <a:t>Kliknij, aby edytować styl</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482619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ferta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pl-PL"/>
              <a:t>Kliknij, aby edytować styl</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3082808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arta nazwy">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pl-PL"/>
              <a:t>Kliknij, aby edytować styl</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7497873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kolumna">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pl-PL"/>
              <a:t>Kliknij, aby edytować styl</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3" name="Date Placeholder 2"/>
          <p:cNvSpPr>
            <a:spLocks noGrp="1"/>
          </p:cNvSpPr>
          <p:nvPr>
            <p:ph type="dt" sz="half" idx="10"/>
          </p:nvPr>
        </p:nvSpPr>
        <p:spPr/>
        <p:txBody>
          <a:bodyPr/>
          <a:lstStyle/>
          <a:p>
            <a:fld id="{6E37D865-3556-4CE5-B574-A35DADBAEBFC}" type="datetimeFigureOut">
              <a:rPr lang="pl-PL" smtClean="0"/>
              <a:t>08.01.2026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1451529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olumna obrazu">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pl-PL"/>
              <a:t>Kliknij, aby edytować styl</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pl-PL"/>
              <a:t>Kliknij ikonę, aby dodać obraz</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pl-PL"/>
              <a:t>Kliknij ikonę, aby dodać obraz</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pl-PL"/>
              <a:t>Kliknij ikonę, aby dodać obraz</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3" name="Date Placeholder 2"/>
          <p:cNvSpPr>
            <a:spLocks noGrp="1"/>
          </p:cNvSpPr>
          <p:nvPr>
            <p:ph type="dt" sz="half" idx="10"/>
          </p:nvPr>
        </p:nvSpPr>
        <p:spPr/>
        <p:txBody>
          <a:bodyPr/>
          <a:lstStyle/>
          <a:p>
            <a:fld id="{6E37D865-3556-4CE5-B574-A35DADBAEBFC}" type="datetimeFigureOut">
              <a:rPr lang="pl-PL" smtClean="0"/>
              <a:t>08.01.2026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485778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p:txBody>
          <a:bodyPr vert="eaVert" ancho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9708287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5735067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E37D865-3556-4CE5-B574-A35DADBAEBFC}" type="datetimeFigureOut">
              <a:rPr lang="pl-PL" smtClean="0"/>
              <a:t>08.01.2026</a:t>
            </a:fld>
            <a:endParaRPr lang="pl-PL"/>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pl-PL"/>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4676333-3DA7-4B6A-90D3-D386D3919E55}" type="slidenum">
              <a:rPr lang="pl-PL" smtClean="0"/>
              <a:t>‹#›</a:t>
            </a:fld>
            <a:endParaRPr lang="pl-PL"/>
          </a:p>
        </p:txBody>
      </p:sp>
    </p:spTree>
    <p:extLst>
      <p:ext uri="{BB962C8B-B14F-4D97-AF65-F5344CB8AC3E}">
        <p14:creationId xmlns:p14="http://schemas.microsoft.com/office/powerpoint/2010/main" val="668862089"/>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 id="214748374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gi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46702A3-750C-AF6F-0FAF-B8E81776730C}"/>
              </a:ext>
            </a:extLst>
          </p:cNvPr>
          <p:cNvSpPr>
            <a:spLocks noGrp="1"/>
          </p:cNvSpPr>
          <p:nvPr>
            <p:ph type="ctrTitle"/>
          </p:nvPr>
        </p:nvSpPr>
        <p:spPr>
          <a:xfrm>
            <a:off x="1876424" y="868362"/>
            <a:ext cx="8791575" cy="2387600"/>
          </a:xfrm>
        </p:spPr>
        <p:txBody>
          <a:bodyPr>
            <a:normAutofit fontScale="90000"/>
          </a:bodyPr>
          <a:lstStyle/>
          <a:p>
            <a:r>
              <a:rPr lang="pl-PL" b="1" dirty="0"/>
              <a:t>Lokalizacja punktu w przestrzeni dwuwymiarowej, Metoda Separatorów</a:t>
            </a:r>
            <a:endParaRPr lang="pl-PL" dirty="0"/>
          </a:p>
        </p:txBody>
      </p:sp>
      <p:sp>
        <p:nvSpPr>
          <p:cNvPr id="3" name="Podtytuł 2">
            <a:extLst>
              <a:ext uri="{FF2B5EF4-FFF2-40B4-BE49-F238E27FC236}">
                <a16:creationId xmlns:a16="http://schemas.microsoft.com/office/drawing/2014/main" id="{9CE1B2B4-1212-DF28-1123-3578690B749D}"/>
              </a:ext>
            </a:extLst>
          </p:cNvPr>
          <p:cNvSpPr>
            <a:spLocks noGrp="1"/>
          </p:cNvSpPr>
          <p:nvPr>
            <p:ph type="subTitle" idx="1"/>
          </p:nvPr>
        </p:nvSpPr>
        <p:spPr/>
        <p:txBody>
          <a:bodyPr/>
          <a:lstStyle/>
          <a:p>
            <a:r>
              <a:rPr lang="pl-PL" dirty="0"/>
              <a:t>Autorzy: Jacek Łoboda, Gabriel Wermiński</a:t>
            </a:r>
          </a:p>
        </p:txBody>
      </p:sp>
    </p:spTree>
    <p:extLst>
      <p:ext uri="{BB962C8B-B14F-4D97-AF65-F5344CB8AC3E}">
        <p14:creationId xmlns:p14="http://schemas.microsoft.com/office/powerpoint/2010/main" val="2235912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86A5716-B000-2764-EEAD-52B4515D8076}"/>
              </a:ext>
            </a:extLst>
          </p:cNvPr>
          <p:cNvSpPr>
            <a:spLocks noGrp="1"/>
          </p:cNvSpPr>
          <p:nvPr>
            <p:ph type="title"/>
          </p:nvPr>
        </p:nvSpPr>
        <p:spPr/>
        <p:txBody>
          <a:bodyPr/>
          <a:lstStyle/>
          <a:p>
            <a:r>
              <a:rPr lang="pl-PL" b="1" dirty="0"/>
              <a:t>Definicja Problemu</a:t>
            </a:r>
            <a:endParaRPr lang="pl-PL" dirty="0"/>
          </a:p>
        </p:txBody>
      </p:sp>
      <p:sp>
        <p:nvSpPr>
          <p:cNvPr id="3" name="Symbol zastępczy zawartości 2">
            <a:extLst>
              <a:ext uri="{FF2B5EF4-FFF2-40B4-BE49-F238E27FC236}">
                <a16:creationId xmlns:a16="http://schemas.microsoft.com/office/drawing/2014/main" id="{5B9FF4B4-6051-9B3F-BC93-391C1D3A54B1}"/>
              </a:ext>
            </a:extLst>
          </p:cNvPr>
          <p:cNvSpPr>
            <a:spLocks noGrp="1"/>
          </p:cNvSpPr>
          <p:nvPr>
            <p:ph idx="1"/>
          </p:nvPr>
        </p:nvSpPr>
        <p:spPr/>
        <p:txBody>
          <a:bodyPr/>
          <a:lstStyle/>
          <a:p>
            <a:pPr marL="0" indent="0">
              <a:buNone/>
            </a:pPr>
            <a:r>
              <a:rPr lang="pl-PL" dirty="0"/>
              <a:t>Problem lokalizacji punktu polega na znalezieniu regionu Rᵢ w podziale płaszczyzny S, który zawiera dany punkt zapytania p. Jest to fundamentalne zagadnienie w systemach informacji geograficznej (GIS) oraz grafice komputerowej, gdzie wykonuje się tysiące takich zapytań na sekundę. Naiwne przeszukiwanie liniowe o złożoności O(N) jest w takich zastosowaniach nieefektywne, dlatego celem projektu jest redukcja czasu zapytania do złożoności logarytmicznej O(log² N).</a:t>
            </a:r>
          </a:p>
        </p:txBody>
      </p:sp>
    </p:spTree>
    <p:extLst>
      <p:ext uri="{BB962C8B-B14F-4D97-AF65-F5344CB8AC3E}">
        <p14:creationId xmlns:p14="http://schemas.microsoft.com/office/powerpoint/2010/main" val="37371885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A3EA575-5B80-ACFD-9C14-82123A266E04}"/>
              </a:ext>
            </a:extLst>
          </p:cNvPr>
          <p:cNvSpPr>
            <a:spLocks noGrp="1"/>
          </p:cNvSpPr>
          <p:nvPr>
            <p:ph type="title"/>
          </p:nvPr>
        </p:nvSpPr>
        <p:spPr/>
        <p:txBody>
          <a:bodyPr/>
          <a:lstStyle/>
          <a:p>
            <a:r>
              <a:rPr lang="pl-PL" dirty="0"/>
              <a:t>Założenia wstępne – Monotoniczność</a:t>
            </a:r>
          </a:p>
        </p:txBody>
      </p:sp>
      <p:sp>
        <p:nvSpPr>
          <p:cNvPr id="3" name="Symbol zastępczy zawartości 2">
            <a:extLst>
              <a:ext uri="{FF2B5EF4-FFF2-40B4-BE49-F238E27FC236}">
                <a16:creationId xmlns:a16="http://schemas.microsoft.com/office/drawing/2014/main" id="{C3AE591A-3AFC-4411-0745-67947E238CEF}"/>
              </a:ext>
            </a:extLst>
          </p:cNvPr>
          <p:cNvSpPr>
            <a:spLocks noGrp="1"/>
          </p:cNvSpPr>
          <p:nvPr>
            <p:ph idx="1"/>
          </p:nvPr>
        </p:nvSpPr>
        <p:spPr>
          <a:xfrm>
            <a:off x="1141413" y="2249487"/>
            <a:ext cx="7295578" cy="3541714"/>
          </a:xfrm>
        </p:spPr>
        <p:txBody>
          <a:bodyPr>
            <a:normAutofit fontScale="92500" lnSpcReduction="10000"/>
          </a:bodyPr>
          <a:lstStyle/>
          <a:p>
            <a:pPr marL="0" indent="0">
              <a:buNone/>
            </a:pPr>
            <a:r>
              <a:rPr lang="pl-PL" dirty="0"/>
              <a:t>Fundamentalnym wymogiem metody separatorów jest monotoniczność obszarów. Oznacza to, że każda prosta pozioma przecina dany region w co najwyżej dwóch punktach. Ponieważ rzeczywiste wielokąty często są wklęsłe i nie spełniają tego warunku, konieczna jest </a:t>
            </a:r>
            <a:r>
              <a:rPr lang="pl-PL" dirty="0" err="1"/>
              <a:t>regularyzacja</a:t>
            </a:r>
            <a:r>
              <a:rPr lang="pl-PL" dirty="0"/>
              <a:t>. W projekcie zastosowano algorytm triangulacji (metoda </a:t>
            </a:r>
            <a:r>
              <a:rPr lang="pl-PL" dirty="0" err="1"/>
              <a:t>Ear</a:t>
            </a:r>
            <a:r>
              <a:rPr lang="pl-PL" dirty="0"/>
              <a:t> </a:t>
            </a:r>
            <a:r>
              <a:rPr lang="pl-PL" dirty="0" err="1"/>
              <a:t>Clipping</a:t>
            </a:r>
            <a:r>
              <a:rPr lang="pl-PL" dirty="0"/>
              <a:t>), który w fazie </a:t>
            </a:r>
            <a:r>
              <a:rPr lang="pl-PL" dirty="0" err="1"/>
              <a:t>preprocessingu</a:t>
            </a:r>
            <a:r>
              <a:rPr lang="pl-PL" dirty="0"/>
              <a:t> dzieli dowolne wielokąty na trójkąty. Trójkąty są z definicji monotoniczne, co gwarantuje poprawność dalszych kroków algorytmu.</a:t>
            </a:r>
          </a:p>
        </p:txBody>
      </p:sp>
      <p:sp>
        <p:nvSpPr>
          <p:cNvPr id="5" name="pole tekstowe 4">
            <a:extLst>
              <a:ext uri="{FF2B5EF4-FFF2-40B4-BE49-F238E27FC236}">
                <a16:creationId xmlns:a16="http://schemas.microsoft.com/office/drawing/2014/main" id="{50624951-6A3A-46B5-349E-DC8106499033}"/>
              </a:ext>
            </a:extLst>
          </p:cNvPr>
          <p:cNvSpPr txBox="1"/>
          <p:nvPr/>
        </p:nvSpPr>
        <p:spPr>
          <a:xfrm>
            <a:off x="3033074" y="3246690"/>
            <a:ext cx="6103856" cy="369332"/>
          </a:xfrm>
          <a:prstGeom prst="rect">
            <a:avLst/>
          </a:prstGeom>
          <a:noFill/>
        </p:spPr>
        <p:txBody>
          <a:bodyPr wrap="square">
            <a:spAutoFit/>
          </a:bodyPr>
          <a:lstStyle/>
          <a:p>
            <a:endParaRPr lang="pl-PL" dirty="0"/>
          </a:p>
        </p:txBody>
      </p:sp>
      <p:sp>
        <p:nvSpPr>
          <p:cNvPr id="8" name="Rectangle 1">
            <a:extLst>
              <a:ext uri="{FF2B5EF4-FFF2-40B4-BE49-F238E27FC236}">
                <a16:creationId xmlns:a16="http://schemas.microsoft.com/office/drawing/2014/main" id="{D2AB049E-2AB7-E32F-C599-375B734C9C17}"/>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pl-PL"/>
          </a:p>
        </p:txBody>
      </p:sp>
      <p:sp>
        <p:nvSpPr>
          <p:cNvPr id="9" name="Rectangle 2">
            <a:extLst>
              <a:ext uri="{FF2B5EF4-FFF2-40B4-BE49-F238E27FC236}">
                <a16:creationId xmlns:a16="http://schemas.microsoft.com/office/drawing/2014/main" id="{D80D97A3-4BB8-0378-38D2-D8B019CB06AF}"/>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pl-PL"/>
          </a:p>
        </p:txBody>
      </p:sp>
      <p:pic>
        <p:nvPicPr>
          <p:cNvPr id="13" name="Obraz 12" descr="Obraz zawierający linia, diagram, origami&#10;&#10;Zawartość wygenerowana przez AI może być niepoprawna.">
            <a:extLst>
              <a:ext uri="{FF2B5EF4-FFF2-40B4-BE49-F238E27FC236}">
                <a16:creationId xmlns:a16="http://schemas.microsoft.com/office/drawing/2014/main" id="{30541C3B-7BF3-F818-5CB0-74F54F995370}"/>
              </a:ext>
            </a:extLst>
          </p:cNvPr>
          <p:cNvPicPr>
            <a:picLocks noChangeAspect="1"/>
          </p:cNvPicPr>
          <p:nvPr/>
        </p:nvPicPr>
        <p:blipFill>
          <a:blip r:embed="rId2"/>
          <a:stretch>
            <a:fillRect/>
          </a:stretch>
        </p:blipFill>
        <p:spPr>
          <a:xfrm>
            <a:off x="8542362" y="2097088"/>
            <a:ext cx="2686425" cy="3639058"/>
          </a:xfrm>
          <a:prstGeom prst="rect">
            <a:avLst/>
          </a:prstGeom>
        </p:spPr>
      </p:pic>
    </p:spTree>
    <p:extLst>
      <p:ext uri="{BB962C8B-B14F-4D97-AF65-F5344CB8AC3E}">
        <p14:creationId xmlns:p14="http://schemas.microsoft.com/office/powerpoint/2010/main" val="3744393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7750C4C-51CF-D89B-C780-5F744BEBF55F}"/>
              </a:ext>
            </a:extLst>
          </p:cNvPr>
          <p:cNvSpPr>
            <a:spLocks noGrp="1"/>
          </p:cNvSpPr>
          <p:nvPr>
            <p:ph type="title"/>
          </p:nvPr>
        </p:nvSpPr>
        <p:spPr/>
        <p:txBody>
          <a:bodyPr/>
          <a:lstStyle/>
          <a:p>
            <a:r>
              <a:rPr lang="pl-PL" dirty="0"/>
              <a:t>Reprezentacja Grafowa</a:t>
            </a:r>
          </a:p>
        </p:txBody>
      </p:sp>
      <p:sp>
        <p:nvSpPr>
          <p:cNvPr id="3" name="Symbol zastępczy zawartości 2">
            <a:extLst>
              <a:ext uri="{FF2B5EF4-FFF2-40B4-BE49-F238E27FC236}">
                <a16:creationId xmlns:a16="http://schemas.microsoft.com/office/drawing/2014/main" id="{F1C350F8-62F5-2A71-3E14-EE8FB4A85420}"/>
              </a:ext>
            </a:extLst>
          </p:cNvPr>
          <p:cNvSpPr>
            <a:spLocks noGrp="1"/>
          </p:cNvSpPr>
          <p:nvPr>
            <p:ph idx="1"/>
          </p:nvPr>
        </p:nvSpPr>
        <p:spPr>
          <a:xfrm>
            <a:off x="1141412" y="2249487"/>
            <a:ext cx="9774827" cy="3541714"/>
          </a:xfrm>
        </p:spPr>
        <p:txBody>
          <a:bodyPr/>
          <a:lstStyle/>
          <a:p>
            <a:pPr marL="0" indent="0">
              <a:buNone/>
            </a:pPr>
            <a:r>
              <a:rPr lang="pl-PL" dirty="0"/>
              <a:t>Podział płaszczyzny reprezentowany jest jako Skierowany Graf Acykliczny. W implementacji wykorzystano klasę </a:t>
            </a:r>
            <a:r>
              <a:rPr lang="pl-PL" dirty="0" err="1"/>
              <a:t>Vertex</a:t>
            </a:r>
            <a:r>
              <a:rPr lang="pl-PL" dirty="0"/>
              <a:t>, przechowującą listy sąsiedztwa każdego punktu. Kluczowym zabiegiem jest posortowanie wierzchołków na płaszczyźnie względem współrzędnej Y oraz skierowanie wszystkich krawędzi "w górę". Krawędzie wychodzące z każdego wierzchołka są dodatkowo sortowane kątowo (od lewej do prawej), co pozwala na jednoznaczną identyfikację skrajnych ścieżek.</a:t>
            </a:r>
          </a:p>
        </p:txBody>
      </p:sp>
    </p:spTree>
    <p:extLst>
      <p:ext uri="{BB962C8B-B14F-4D97-AF65-F5344CB8AC3E}">
        <p14:creationId xmlns:p14="http://schemas.microsoft.com/office/powerpoint/2010/main" val="1683506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14120FB-8E1B-AC9E-BF3C-83C45B28F5E3}"/>
              </a:ext>
            </a:extLst>
          </p:cNvPr>
          <p:cNvSpPr>
            <a:spLocks noGrp="1"/>
          </p:cNvSpPr>
          <p:nvPr>
            <p:ph type="title"/>
          </p:nvPr>
        </p:nvSpPr>
        <p:spPr/>
        <p:txBody>
          <a:bodyPr/>
          <a:lstStyle/>
          <a:p>
            <a:r>
              <a:rPr lang="pl-PL" dirty="0"/>
              <a:t>Definicja Separatora</a:t>
            </a:r>
          </a:p>
        </p:txBody>
      </p:sp>
      <p:sp>
        <p:nvSpPr>
          <p:cNvPr id="3" name="Symbol zastępczy zawartości 2">
            <a:extLst>
              <a:ext uri="{FF2B5EF4-FFF2-40B4-BE49-F238E27FC236}">
                <a16:creationId xmlns:a16="http://schemas.microsoft.com/office/drawing/2014/main" id="{CA635ED2-C142-6578-677F-206443772C87}"/>
              </a:ext>
            </a:extLst>
          </p:cNvPr>
          <p:cNvSpPr>
            <a:spLocks noGrp="1"/>
          </p:cNvSpPr>
          <p:nvPr>
            <p:ph idx="1"/>
          </p:nvPr>
        </p:nvSpPr>
        <p:spPr>
          <a:xfrm>
            <a:off x="1141412" y="2249487"/>
            <a:ext cx="6013532" cy="3541714"/>
          </a:xfrm>
        </p:spPr>
        <p:txBody>
          <a:bodyPr>
            <a:normAutofit fontScale="85000" lnSpcReduction="10000"/>
          </a:bodyPr>
          <a:lstStyle/>
          <a:p>
            <a:pPr marL="0" indent="0">
              <a:buNone/>
            </a:pPr>
            <a:r>
              <a:rPr lang="pl-PL" dirty="0"/>
              <a:t>Separatorem nazywamy monotoniczny łańcuch krawędzi biegnący od najniższego (źródło) do najwyższego (ujście) wierzchołka grafu. Kluczową własnością separatora jest to, że dzieli on płaszczyznę (lub jej fragment) na dwie rozłączne części: lewą i prawą. Metoda opiera się na pokryciu całego grafu rozłącznymi krawędziowo separatorami, które są uporządkowane względem osi X (od lewej do prawej). Pozwala to na szybkie odrzucanie połowy obszaru poszukiwań w każdym kroku.</a:t>
            </a:r>
          </a:p>
        </p:txBody>
      </p:sp>
      <p:pic>
        <p:nvPicPr>
          <p:cNvPr id="5" name="Obraz 4" descr="Obraz zawierający linia, diagram, Prostokąt, Wykres&#10;&#10;Zawartość wygenerowana przez AI może być niepoprawna.">
            <a:extLst>
              <a:ext uri="{FF2B5EF4-FFF2-40B4-BE49-F238E27FC236}">
                <a16:creationId xmlns:a16="http://schemas.microsoft.com/office/drawing/2014/main" id="{3B9A34DC-A410-57EC-E08C-D2993DDF1E6A}"/>
              </a:ext>
            </a:extLst>
          </p:cNvPr>
          <p:cNvPicPr>
            <a:picLocks noChangeAspect="1"/>
          </p:cNvPicPr>
          <p:nvPr/>
        </p:nvPicPr>
        <p:blipFill>
          <a:blip r:embed="rId2"/>
          <a:stretch>
            <a:fillRect/>
          </a:stretch>
        </p:blipFill>
        <p:spPr>
          <a:xfrm>
            <a:off x="7332320" y="2249487"/>
            <a:ext cx="3631053" cy="2709842"/>
          </a:xfrm>
          <a:prstGeom prst="rect">
            <a:avLst/>
          </a:prstGeom>
        </p:spPr>
      </p:pic>
    </p:spTree>
    <p:extLst>
      <p:ext uri="{BB962C8B-B14F-4D97-AF65-F5344CB8AC3E}">
        <p14:creationId xmlns:p14="http://schemas.microsoft.com/office/powerpoint/2010/main" val="2821519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3792D08-F264-B2B5-EA6A-BA59EF39593A}"/>
              </a:ext>
            </a:extLst>
          </p:cNvPr>
          <p:cNvSpPr>
            <a:spLocks noGrp="1"/>
          </p:cNvSpPr>
          <p:nvPr>
            <p:ph type="title"/>
          </p:nvPr>
        </p:nvSpPr>
        <p:spPr/>
        <p:txBody>
          <a:bodyPr/>
          <a:lstStyle/>
          <a:p>
            <a:r>
              <a:rPr lang="pl-PL" dirty="0"/>
              <a:t>Wyznaczanie Wag – Idea przepływu</a:t>
            </a:r>
          </a:p>
        </p:txBody>
      </p:sp>
      <p:sp>
        <p:nvSpPr>
          <p:cNvPr id="3" name="Symbol zastępczy zawartości 2">
            <a:extLst>
              <a:ext uri="{FF2B5EF4-FFF2-40B4-BE49-F238E27FC236}">
                <a16:creationId xmlns:a16="http://schemas.microsoft.com/office/drawing/2014/main" id="{EB40073D-24AE-3327-8BE8-F7B529052DC2}"/>
              </a:ext>
            </a:extLst>
          </p:cNvPr>
          <p:cNvSpPr>
            <a:spLocks noGrp="1"/>
          </p:cNvSpPr>
          <p:nvPr>
            <p:ph idx="1"/>
          </p:nvPr>
        </p:nvSpPr>
        <p:spPr/>
        <p:txBody>
          <a:bodyPr/>
          <a:lstStyle/>
          <a:p>
            <a:pPr marL="0" indent="0">
              <a:buNone/>
            </a:pPr>
            <a:r>
              <a:rPr lang="pl-PL" dirty="0"/>
              <a:t>Aby podzielić graf na separatory, należy ustalić "przepustowość" krawędzi. Implementacja wykorzystuje funkcję </a:t>
            </a:r>
            <a:r>
              <a:rPr lang="pl-PL" dirty="0" err="1"/>
              <a:t>compute_planar_weights</a:t>
            </a:r>
            <a:r>
              <a:rPr lang="pl-PL" dirty="0"/>
              <a:t>, która traktuje graf jak sieć przepływową. Celem jest przypisanie każdej krawędzi wagi, która informuje, ile separatorów będzie przez nią przechodzić. Suma wag krawędzi wychodzących ze źródła determinuje całkowitą liczbę separatorów w strukturze.</a:t>
            </a:r>
          </a:p>
        </p:txBody>
      </p:sp>
    </p:spTree>
    <p:extLst>
      <p:ext uri="{BB962C8B-B14F-4D97-AF65-F5344CB8AC3E}">
        <p14:creationId xmlns:p14="http://schemas.microsoft.com/office/powerpoint/2010/main" val="11811102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19E56AC0-DCF7-01DE-018D-BA8383DEFBC4}"/>
              </a:ext>
            </a:extLst>
          </p:cNvPr>
          <p:cNvSpPr>
            <a:spLocks noGrp="1"/>
          </p:cNvSpPr>
          <p:nvPr>
            <p:ph type="title"/>
          </p:nvPr>
        </p:nvSpPr>
        <p:spPr/>
        <p:txBody>
          <a:bodyPr/>
          <a:lstStyle/>
          <a:p>
            <a:r>
              <a:rPr lang="pl-PL" dirty="0"/>
              <a:t>Wyznaczanie Wag – Realizacja Dwuprzebiegowa</a:t>
            </a:r>
          </a:p>
        </p:txBody>
      </p:sp>
      <p:sp>
        <p:nvSpPr>
          <p:cNvPr id="5" name="Rectangle 2">
            <a:extLst>
              <a:ext uri="{FF2B5EF4-FFF2-40B4-BE49-F238E27FC236}">
                <a16:creationId xmlns:a16="http://schemas.microsoft.com/office/drawing/2014/main" id="{2F839CA2-812D-9A8E-979F-C9258113798D}"/>
              </a:ext>
            </a:extLst>
          </p:cNvPr>
          <p:cNvSpPr>
            <a:spLocks noGrp="1" noChangeArrowheads="1"/>
          </p:cNvSpPr>
          <p:nvPr>
            <p:ph idx="1"/>
          </p:nvPr>
        </p:nvSpPr>
        <p:spPr bwMode="auto">
          <a:xfrm>
            <a:off x="1141413" y="2184720"/>
            <a:ext cx="10038777" cy="300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Algorytm obliczania wag składa się z dwóch faz.</a:t>
            </a:r>
          </a:p>
          <a:p>
            <a:pPr marL="0" marR="0" lvl="0" indent="0" algn="l" defTabSz="914400" rtl="0" eaLnBrk="0" fontAlgn="base" latinLnBrk="0" hangingPunct="0">
              <a:lnSpc>
                <a:spcPct val="100000"/>
              </a:lnSpc>
              <a:spcBef>
                <a:spcPct val="0"/>
              </a:spcBef>
              <a:spcAft>
                <a:spcPct val="0"/>
              </a:spcAft>
              <a:buClrTx/>
              <a:buSzTx/>
              <a:buFontTx/>
              <a:buNone/>
              <a:tabLst/>
            </a:pPr>
            <a:endParaRPr lang="pl-PL" altLang="pl-PL" dirty="0"/>
          </a:p>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W fazie przejścia </a:t>
            </a:r>
            <a:r>
              <a:rPr kumimoji="0" lang="pl-PL" altLang="pl-PL" b="1" i="0" u="none" strike="noStrike" cap="none" normalizeH="0" baseline="0" dirty="0">
                <a:ln>
                  <a:noFill/>
                </a:ln>
                <a:solidFill>
                  <a:schemeClr val="tx1"/>
                </a:solidFill>
                <a:effectLst/>
              </a:rPr>
              <a:t>dół - góra </a:t>
            </a:r>
            <a:r>
              <a:rPr kumimoji="0" lang="pl-PL" altLang="pl-PL" b="0" i="0" u="none" strike="noStrike" cap="none" normalizeH="0" baseline="0" dirty="0">
                <a:ln>
                  <a:noFill/>
                </a:ln>
                <a:solidFill>
                  <a:schemeClr val="tx1"/>
                </a:solidFill>
                <a:effectLst/>
              </a:rPr>
              <a:t>wagi są propagowane w górę, sumując wpływy z krawędzi wejściowych. Jeśli wierzchołek ma więcej wpływu niż wypływu, nadmiar kierowany jest na jego skrajną lewą krawędź wyjściową.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pl-PL" altLang="pl-PL"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W fazie przejścia </a:t>
            </a:r>
            <a:r>
              <a:rPr kumimoji="0" lang="pl-PL" altLang="pl-PL" b="1" i="0" u="none" strike="noStrike" cap="none" normalizeH="0" baseline="0" dirty="0">
                <a:ln>
                  <a:noFill/>
                </a:ln>
                <a:solidFill>
                  <a:schemeClr val="tx1"/>
                </a:solidFill>
                <a:effectLst/>
              </a:rPr>
              <a:t>góra - dół </a:t>
            </a:r>
            <a:r>
              <a:rPr kumimoji="0" lang="pl-PL" altLang="pl-PL" b="0" i="0" u="none" strike="noStrike" cap="none" normalizeH="0" baseline="0" dirty="0">
                <a:ln>
                  <a:noFill/>
                </a:ln>
                <a:solidFill>
                  <a:schemeClr val="tx1"/>
                </a:solidFill>
                <a:effectLst/>
              </a:rPr>
              <a:t>następuje korekta – brakujący przepływ jest uzupełniany, co gwarantuje spójność bilansu przepływu w każdym węźle grafu.</a:t>
            </a:r>
          </a:p>
        </p:txBody>
      </p:sp>
    </p:spTree>
    <p:extLst>
      <p:ext uri="{BB962C8B-B14F-4D97-AF65-F5344CB8AC3E}">
        <p14:creationId xmlns:p14="http://schemas.microsoft.com/office/powerpoint/2010/main" val="33837171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888348A-349A-190E-CE20-816E900DAB06}"/>
              </a:ext>
            </a:extLst>
          </p:cNvPr>
          <p:cNvSpPr>
            <a:spLocks noGrp="1"/>
          </p:cNvSpPr>
          <p:nvPr>
            <p:ph type="title"/>
          </p:nvPr>
        </p:nvSpPr>
        <p:spPr/>
        <p:txBody>
          <a:bodyPr/>
          <a:lstStyle/>
          <a:p>
            <a:r>
              <a:rPr lang="pl-PL" dirty="0"/>
              <a:t>Algorytm Generowania Łańcuchów (Separatorów)</a:t>
            </a:r>
          </a:p>
        </p:txBody>
      </p:sp>
      <p:sp>
        <p:nvSpPr>
          <p:cNvPr id="3" name="Symbol zastępczy zawartości 2">
            <a:extLst>
              <a:ext uri="{FF2B5EF4-FFF2-40B4-BE49-F238E27FC236}">
                <a16:creationId xmlns:a16="http://schemas.microsoft.com/office/drawing/2014/main" id="{B13681DA-CA30-5887-526E-F18D41747CA2}"/>
              </a:ext>
            </a:extLst>
          </p:cNvPr>
          <p:cNvSpPr>
            <a:spLocks noGrp="1"/>
          </p:cNvSpPr>
          <p:nvPr>
            <p:ph idx="1"/>
          </p:nvPr>
        </p:nvSpPr>
        <p:spPr/>
        <p:txBody>
          <a:bodyPr/>
          <a:lstStyle/>
          <a:p>
            <a:pPr marL="0" indent="0">
              <a:buNone/>
            </a:pPr>
            <a:r>
              <a:rPr lang="pl-PL" dirty="0"/>
              <a:t>Mając wyznaczone wagi, funkcja </a:t>
            </a:r>
            <a:r>
              <a:rPr lang="pl-PL" dirty="0" err="1"/>
              <a:t>generate_monotone_chains</a:t>
            </a:r>
            <a:r>
              <a:rPr lang="pl-PL" dirty="0"/>
              <a:t> wyodrębnia poszczególne separatory. Zastosowano podejście zachłanne: startując od źródła, algorytm zawsze wybiera skrajnie prawą krawędź posiadającą dodatnią wagę. Po przejściu przez krawędź jej waga jest dekrementowana Proces ten powtarza się, aż wszystkie wagi zostaną wyzerowane, a graf zostanie całkowicie pokryty rozłącznymi krawędziowo łańcuchami.</a:t>
            </a:r>
          </a:p>
        </p:txBody>
      </p:sp>
    </p:spTree>
    <p:extLst>
      <p:ext uri="{BB962C8B-B14F-4D97-AF65-F5344CB8AC3E}">
        <p14:creationId xmlns:p14="http://schemas.microsoft.com/office/powerpoint/2010/main" val="3373861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0932538-7AAD-D427-0B4E-B8B38CAF5412}"/>
              </a:ext>
            </a:extLst>
          </p:cNvPr>
          <p:cNvSpPr>
            <a:spLocks noGrp="1"/>
          </p:cNvSpPr>
          <p:nvPr>
            <p:ph type="title"/>
          </p:nvPr>
        </p:nvSpPr>
        <p:spPr/>
        <p:txBody>
          <a:bodyPr/>
          <a:lstStyle/>
          <a:p>
            <a:r>
              <a:rPr lang="pl-PL" dirty="0"/>
              <a:t>Budowa Drzewa Poszukiwań</a:t>
            </a:r>
          </a:p>
        </p:txBody>
      </p:sp>
      <p:sp>
        <p:nvSpPr>
          <p:cNvPr id="3" name="Symbol zastępczy zawartości 2">
            <a:extLst>
              <a:ext uri="{FF2B5EF4-FFF2-40B4-BE49-F238E27FC236}">
                <a16:creationId xmlns:a16="http://schemas.microsoft.com/office/drawing/2014/main" id="{E76C3BFE-8341-5AC8-D4C0-8C3C29613923}"/>
              </a:ext>
            </a:extLst>
          </p:cNvPr>
          <p:cNvSpPr>
            <a:spLocks noGrp="1"/>
          </p:cNvSpPr>
          <p:nvPr>
            <p:ph idx="1"/>
          </p:nvPr>
        </p:nvSpPr>
        <p:spPr/>
        <p:txBody>
          <a:bodyPr/>
          <a:lstStyle/>
          <a:p>
            <a:pPr marL="0" indent="0">
              <a:buNone/>
            </a:pPr>
            <a:r>
              <a:rPr lang="pl-PL" dirty="0"/>
              <a:t>Wygenerowane łańcuchy są organizowane w hierarchiczną strukturę danych – drzewo </a:t>
            </a:r>
            <a:r>
              <a:rPr lang="pl-PL" dirty="0" err="1"/>
              <a:t>SearchTreeNode</a:t>
            </a:r>
            <a:r>
              <a:rPr lang="pl-PL" dirty="0"/>
              <a:t>. Aby zapewnić logarytmiczny czas wyszukiwania, drzewo jest zbalansowane. </a:t>
            </a:r>
          </a:p>
          <a:p>
            <a:pPr marL="0" indent="0">
              <a:buNone/>
            </a:pPr>
            <a:r>
              <a:rPr lang="pl-PL" dirty="0"/>
              <a:t>Jako korzeń drzewa wybierany jest separator środkowy (mediana zbioru). Łańcuchy leżące geometrycznie na lewo od mediany tworzą lewe poddrzewo, a te na prawo – prawe poddrzewo. Liście drzewa wskazują pośrednio na szukane regiony Rᵢ zawarte między dwoma sąsiednimi separatorami.</a:t>
            </a:r>
          </a:p>
          <a:p>
            <a:pPr marL="0" indent="0">
              <a:buNone/>
            </a:pPr>
            <a:endParaRPr lang="pl-PL" dirty="0"/>
          </a:p>
        </p:txBody>
      </p:sp>
    </p:spTree>
    <p:extLst>
      <p:ext uri="{BB962C8B-B14F-4D97-AF65-F5344CB8AC3E}">
        <p14:creationId xmlns:p14="http://schemas.microsoft.com/office/powerpoint/2010/main" val="336747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D226454-3A22-D77A-0FB9-3DBD356A7EB3}"/>
              </a:ext>
            </a:extLst>
          </p:cNvPr>
          <p:cNvSpPr>
            <a:spLocks noGrp="1"/>
          </p:cNvSpPr>
          <p:nvPr>
            <p:ph type="title"/>
          </p:nvPr>
        </p:nvSpPr>
        <p:spPr/>
        <p:txBody>
          <a:bodyPr/>
          <a:lstStyle/>
          <a:p>
            <a:r>
              <a:rPr lang="pl-PL" dirty="0"/>
              <a:t>Wizualizacja </a:t>
            </a:r>
            <a:r>
              <a:rPr lang="pl-PL" dirty="0" err="1"/>
              <a:t>DrzewA</a:t>
            </a:r>
            <a:r>
              <a:rPr lang="pl-PL" dirty="0"/>
              <a:t> poszukiwań</a:t>
            </a:r>
          </a:p>
        </p:txBody>
      </p:sp>
      <p:pic>
        <p:nvPicPr>
          <p:cNvPr id="5" name="Obraz 4" descr="Obraz zawierający diagram, linia, Wykres, Czcionka&#10;&#10;Zawartość wygenerowana przez AI może być niepoprawna.">
            <a:extLst>
              <a:ext uri="{FF2B5EF4-FFF2-40B4-BE49-F238E27FC236}">
                <a16:creationId xmlns:a16="http://schemas.microsoft.com/office/drawing/2014/main" id="{0C12EE33-51AF-CDC2-53AE-51C945A40928}"/>
              </a:ext>
            </a:extLst>
          </p:cNvPr>
          <p:cNvPicPr>
            <a:picLocks noChangeAspect="1"/>
          </p:cNvPicPr>
          <p:nvPr/>
        </p:nvPicPr>
        <p:blipFill>
          <a:blip r:embed="rId2"/>
          <a:stretch>
            <a:fillRect/>
          </a:stretch>
        </p:blipFill>
        <p:spPr>
          <a:xfrm>
            <a:off x="650440" y="2097088"/>
            <a:ext cx="5373287" cy="3565692"/>
          </a:xfrm>
          <a:prstGeom prst="rect">
            <a:avLst/>
          </a:prstGeom>
        </p:spPr>
      </p:pic>
      <p:pic>
        <p:nvPicPr>
          <p:cNvPr id="4" name="Obraz 3" descr="Obraz zawierający linia, diagram, Wykres, Równolegle&#10;&#10;Zawartość wygenerowana przez AI może być niepoprawna.">
            <a:extLst>
              <a:ext uri="{FF2B5EF4-FFF2-40B4-BE49-F238E27FC236}">
                <a16:creationId xmlns:a16="http://schemas.microsoft.com/office/drawing/2014/main" id="{BC1137FE-7E72-1021-B874-FBECF5EA4299}"/>
              </a:ext>
            </a:extLst>
          </p:cNvPr>
          <p:cNvPicPr>
            <a:picLocks noChangeAspect="1"/>
          </p:cNvPicPr>
          <p:nvPr/>
        </p:nvPicPr>
        <p:blipFill>
          <a:blip r:embed="rId3"/>
          <a:stretch>
            <a:fillRect/>
          </a:stretch>
        </p:blipFill>
        <p:spPr>
          <a:xfrm>
            <a:off x="6284246" y="2094243"/>
            <a:ext cx="4763165" cy="3562847"/>
          </a:xfrm>
          <a:prstGeom prst="rect">
            <a:avLst/>
          </a:prstGeom>
        </p:spPr>
      </p:pic>
    </p:spTree>
    <p:extLst>
      <p:ext uri="{BB962C8B-B14F-4D97-AF65-F5344CB8AC3E}">
        <p14:creationId xmlns:p14="http://schemas.microsoft.com/office/powerpoint/2010/main" val="7326598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DE6F26B-9477-6D74-010A-57FD79BD3EC0}"/>
              </a:ext>
            </a:extLst>
          </p:cNvPr>
          <p:cNvSpPr>
            <a:spLocks noGrp="1"/>
          </p:cNvSpPr>
          <p:nvPr>
            <p:ph type="title"/>
          </p:nvPr>
        </p:nvSpPr>
        <p:spPr/>
        <p:txBody>
          <a:bodyPr/>
          <a:lstStyle/>
          <a:p>
            <a:r>
              <a:rPr lang="pl-PL" dirty="0"/>
              <a:t>Algorytm Zapytania – Teoria</a:t>
            </a:r>
          </a:p>
        </p:txBody>
      </p:sp>
      <p:sp>
        <p:nvSpPr>
          <p:cNvPr id="4" name="Rectangle 1">
            <a:extLst>
              <a:ext uri="{FF2B5EF4-FFF2-40B4-BE49-F238E27FC236}">
                <a16:creationId xmlns:a16="http://schemas.microsoft.com/office/drawing/2014/main" id="{01EB7579-B7FF-8D80-E611-2D6FC8B3EBFC}"/>
              </a:ext>
            </a:extLst>
          </p:cNvPr>
          <p:cNvSpPr>
            <a:spLocks noGrp="1" noChangeArrowheads="1"/>
          </p:cNvSpPr>
          <p:nvPr>
            <p:ph idx="1"/>
          </p:nvPr>
        </p:nvSpPr>
        <p:spPr bwMode="auto">
          <a:xfrm flipH="1">
            <a:off x="1141413" y="2767927"/>
            <a:ext cx="8970800" cy="1892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Lokalizacja punktu p polega na zejściu w dół drzewa BST, począwszy od korzenia. W każdym węźle (reprezentującym separator) podejmowana jest decyzja binarna: czy punkt znajduje się na lewo, czy na prawo od tego łańcucha? Decyzja ta determinuje wybór kolejnego dziecka (lewego lub prawego) i zawęża obszar poszukiwań o połowę.</a:t>
            </a:r>
          </a:p>
        </p:txBody>
      </p:sp>
    </p:spTree>
    <p:extLst>
      <p:ext uri="{BB962C8B-B14F-4D97-AF65-F5344CB8AC3E}">
        <p14:creationId xmlns:p14="http://schemas.microsoft.com/office/powerpoint/2010/main" val="12908584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61E86DE-2B5C-EEFE-C10E-39B04D517566}"/>
              </a:ext>
            </a:extLst>
          </p:cNvPr>
          <p:cNvSpPr>
            <a:spLocks noGrp="1"/>
          </p:cNvSpPr>
          <p:nvPr>
            <p:ph type="title"/>
          </p:nvPr>
        </p:nvSpPr>
        <p:spPr/>
        <p:txBody>
          <a:bodyPr/>
          <a:lstStyle/>
          <a:p>
            <a:r>
              <a:rPr lang="pl-PL" dirty="0"/>
              <a:t>Algorytm Zapytania – </a:t>
            </a:r>
            <a:r>
              <a:rPr lang="pl-PL" dirty="0" err="1"/>
              <a:t>IMplementacja</a:t>
            </a:r>
            <a:endParaRPr lang="pl-PL" dirty="0"/>
          </a:p>
        </p:txBody>
      </p:sp>
      <p:sp>
        <p:nvSpPr>
          <p:cNvPr id="3" name="Symbol zastępczy zawartości 2">
            <a:extLst>
              <a:ext uri="{FF2B5EF4-FFF2-40B4-BE49-F238E27FC236}">
                <a16:creationId xmlns:a16="http://schemas.microsoft.com/office/drawing/2014/main" id="{87C815C6-9F91-9ECE-B32D-E8A6BFA0F829}"/>
              </a:ext>
            </a:extLst>
          </p:cNvPr>
          <p:cNvSpPr>
            <a:spLocks noGrp="1"/>
          </p:cNvSpPr>
          <p:nvPr>
            <p:ph idx="1"/>
          </p:nvPr>
        </p:nvSpPr>
        <p:spPr>
          <a:xfrm>
            <a:off x="1141412" y="1976110"/>
            <a:ext cx="6220921" cy="3541714"/>
          </a:xfrm>
        </p:spPr>
        <p:txBody>
          <a:bodyPr>
            <a:noAutofit/>
          </a:bodyPr>
          <a:lstStyle/>
          <a:p>
            <a:pPr marL="0" indent="0">
              <a:buNone/>
            </a:pPr>
            <a:r>
              <a:rPr lang="pl-PL" dirty="0"/>
              <a:t>W każdym odwiedzanym węźle (separatorze) wykonywany jest test: "czy punkt p leży na lewo, czy na prawo od tego łańcucha?". Test ten realizowany jest dwuetapowo: najpierw za pomocą wyszukiwania binarnego znajdowany jest segment separatora o współrzędnych Y końców między którymi znajduje się punkt, a następnie obliczany jest iloczyn wektorowy w celu określenia relacji lewo/prawo na podstawie której algorytm schodzi w dół drzewa</a:t>
            </a:r>
          </a:p>
        </p:txBody>
      </p:sp>
      <p:pic>
        <p:nvPicPr>
          <p:cNvPr id="5" name="Obraz 4" descr="Obraz zawierający linia, diagram, tekst, Wykres&#10;&#10;Zawartość wygenerowana przez AI może być niepoprawna.">
            <a:extLst>
              <a:ext uri="{FF2B5EF4-FFF2-40B4-BE49-F238E27FC236}">
                <a16:creationId xmlns:a16="http://schemas.microsoft.com/office/drawing/2014/main" id="{B264F892-1125-F190-F433-0ACD5DCAF61B}"/>
              </a:ext>
            </a:extLst>
          </p:cNvPr>
          <p:cNvPicPr>
            <a:picLocks noChangeAspect="1"/>
          </p:cNvPicPr>
          <p:nvPr/>
        </p:nvPicPr>
        <p:blipFill>
          <a:blip r:embed="rId2"/>
          <a:stretch>
            <a:fillRect/>
          </a:stretch>
        </p:blipFill>
        <p:spPr>
          <a:xfrm>
            <a:off x="7650954" y="2097088"/>
            <a:ext cx="3990346" cy="2986152"/>
          </a:xfrm>
          <a:prstGeom prst="rect">
            <a:avLst/>
          </a:prstGeom>
        </p:spPr>
      </p:pic>
    </p:spTree>
    <p:extLst>
      <p:ext uri="{BB962C8B-B14F-4D97-AF65-F5344CB8AC3E}">
        <p14:creationId xmlns:p14="http://schemas.microsoft.com/office/powerpoint/2010/main" val="1397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6B5E947-2CFE-825C-0FD6-4F8A4CC15074}"/>
              </a:ext>
            </a:extLst>
          </p:cNvPr>
          <p:cNvSpPr>
            <a:spLocks noGrp="1"/>
          </p:cNvSpPr>
          <p:nvPr>
            <p:ph type="title"/>
          </p:nvPr>
        </p:nvSpPr>
        <p:spPr/>
        <p:txBody>
          <a:bodyPr/>
          <a:lstStyle/>
          <a:p>
            <a:r>
              <a:rPr lang="pl-PL" dirty="0"/>
              <a:t>Konstrukcja Wyniku</a:t>
            </a:r>
          </a:p>
        </p:txBody>
      </p:sp>
      <p:sp>
        <p:nvSpPr>
          <p:cNvPr id="4" name="Rectangle 1">
            <a:extLst>
              <a:ext uri="{FF2B5EF4-FFF2-40B4-BE49-F238E27FC236}">
                <a16:creationId xmlns:a16="http://schemas.microsoft.com/office/drawing/2014/main" id="{538FDE86-45F0-1698-F605-14EF1F73A6F3}"/>
              </a:ext>
            </a:extLst>
          </p:cNvPr>
          <p:cNvSpPr>
            <a:spLocks noGrp="1" noChangeArrowheads="1"/>
          </p:cNvSpPr>
          <p:nvPr>
            <p:ph idx="1"/>
          </p:nvPr>
        </p:nvSpPr>
        <p:spPr bwMode="auto">
          <a:xfrm>
            <a:off x="1141413" y="2064952"/>
            <a:ext cx="6607420" cy="300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cs typeface="Arial" panose="020B0604020202020204" pitchFamily="34" charset="0"/>
              </a:rPr>
              <a:t>W finalnym kroku algorytm dysponuje dwoma separatorami: najbliższym z lewej oraz najbliższym z prawej. Ponieważ regiony nie są przechowywane w pamięci jako gotowe obiekty, program musi je dynamicznie odtworzyć. Realizowane jest to poprzez równoczesne przejście po wierzchołkach obu łańcuchów. Algorytm identyfikuje punkty wspólne, w których separatory się stykają. </a:t>
            </a:r>
          </a:p>
        </p:txBody>
      </p:sp>
      <p:pic>
        <p:nvPicPr>
          <p:cNvPr id="6" name="Obraz 5">
            <a:extLst>
              <a:ext uri="{FF2B5EF4-FFF2-40B4-BE49-F238E27FC236}">
                <a16:creationId xmlns:a16="http://schemas.microsoft.com/office/drawing/2014/main" id="{FC5B8F63-36E4-F7BF-CB9D-EB6E6139E2EF}"/>
              </a:ext>
            </a:extLst>
          </p:cNvPr>
          <p:cNvPicPr>
            <a:picLocks noChangeAspect="1"/>
          </p:cNvPicPr>
          <p:nvPr/>
        </p:nvPicPr>
        <p:blipFill>
          <a:blip r:embed="rId2"/>
          <a:stretch>
            <a:fillRect/>
          </a:stretch>
        </p:blipFill>
        <p:spPr>
          <a:xfrm>
            <a:off x="7834899" y="1911061"/>
            <a:ext cx="3829584" cy="2905530"/>
          </a:xfrm>
          <a:prstGeom prst="rect">
            <a:avLst/>
          </a:prstGeom>
        </p:spPr>
      </p:pic>
    </p:spTree>
    <p:extLst>
      <p:ext uri="{BB962C8B-B14F-4D97-AF65-F5344CB8AC3E}">
        <p14:creationId xmlns:p14="http://schemas.microsoft.com/office/powerpoint/2010/main" val="37149728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18284705-6B11-6730-A74A-A27A871E70D8}"/>
              </a:ext>
            </a:extLst>
          </p:cNvPr>
          <p:cNvSpPr>
            <a:spLocks noGrp="1"/>
          </p:cNvSpPr>
          <p:nvPr>
            <p:ph type="title"/>
          </p:nvPr>
        </p:nvSpPr>
        <p:spPr/>
        <p:txBody>
          <a:bodyPr/>
          <a:lstStyle/>
          <a:p>
            <a:r>
              <a:rPr lang="pl-PL" dirty="0"/>
              <a:t>Konstrukcja wyniku</a:t>
            </a:r>
            <a:br>
              <a:rPr lang="pl-PL" dirty="0"/>
            </a:br>
            <a:endParaRPr lang="pl-PL" dirty="0"/>
          </a:p>
        </p:txBody>
      </p:sp>
      <p:sp>
        <p:nvSpPr>
          <p:cNvPr id="3" name="Symbol zastępczy zawartości 2">
            <a:extLst>
              <a:ext uri="{FF2B5EF4-FFF2-40B4-BE49-F238E27FC236}">
                <a16:creationId xmlns:a16="http://schemas.microsoft.com/office/drawing/2014/main" id="{14AD547B-61AA-F4E3-15A6-A50799010C83}"/>
              </a:ext>
            </a:extLst>
          </p:cNvPr>
          <p:cNvSpPr>
            <a:spLocks noGrp="1"/>
          </p:cNvSpPr>
          <p:nvPr>
            <p:ph idx="1"/>
          </p:nvPr>
        </p:nvSpPr>
        <p:spPr>
          <a:xfrm>
            <a:off x="1141413" y="2249487"/>
            <a:ext cx="5570472" cy="3541714"/>
          </a:xfrm>
        </p:spPr>
        <p:txBody>
          <a:bodyPr>
            <a:normAutofit lnSpcReduction="10000"/>
          </a:bodyPr>
          <a:lstStyle/>
          <a:p>
            <a:pPr marL="0" indent="0">
              <a:buNone/>
            </a:pPr>
            <a:r>
              <a:rPr lang="pl-PL" altLang="pl-PL" dirty="0">
                <a:cs typeface="Arial" panose="020B0604020202020204" pitchFamily="34" charset="0"/>
              </a:rPr>
              <a:t>Obszar zawarty pomiędzy dwoma kolejnymi punktami styczności tworzy zamkniętą przestrzeń. Spośród wszystkich wykrytych między separatorami przestrzeni, wybierana jest ta, która w pionie (oś Y) obejmuje współrzędną punktu zapytania. Krawędzie tworzące ten konkretny bąbelek są zwracane jako szukany region.</a:t>
            </a:r>
            <a:endParaRPr lang="pl-PL" dirty="0">
              <a:cs typeface="Arial" panose="020B0604020202020204" pitchFamily="34" charset="0"/>
            </a:endParaRPr>
          </a:p>
          <a:p>
            <a:endParaRPr lang="pl-PL" dirty="0"/>
          </a:p>
        </p:txBody>
      </p:sp>
      <p:pic>
        <p:nvPicPr>
          <p:cNvPr id="5" name="Obraz 4" descr="Obraz zawierający linia, diagram, design&#10;&#10;Zawartość wygenerowana przez AI może być niepoprawna.">
            <a:extLst>
              <a:ext uri="{FF2B5EF4-FFF2-40B4-BE49-F238E27FC236}">
                <a16:creationId xmlns:a16="http://schemas.microsoft.com/office/drawing/2014/main" id="{077B84E7-56D7-C4DE-84BB-098E7CC3BFAC}"/>
              </a:ext>
            </a:extLst>
          </p:cNvPr>
          <p:cNvPicPr>
            <a:picLocks noChangeAspect="1"/>
          </p:cNvPicPr>
          <p:nvPr/>
        </p:nvPicPr>
        <p:blipFill>
          <a:blip r:embed="rId2"/>
          <a:stretch>
            <a:fillRect/>
          </a:stretch>
        </p:blipFill>
        <p:spPr>
          <a:xfrm>
            <a:off x="7376141" y="2249487"/>
            <a:ext cx="4228255" cy="3176503"/>
          </a:xfrm>
          <a:prstGeom prst="rect">
            <a:avLst/>
          </a:prstGeom>
        </p:spPr>
      </p:pic>
    </p:spTree>
    <p:extLst>
      <p:ext uri="{BB962C8B-B14F-4D97-AF65-F5344CB8AC3E}">
        <p14:creationId xmlns:p14="http://schemas.microsoft.com/office/powerpoint/2010/main" val="28551632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7596C49-56E9-BB70-2AAC-D1C6C362DC4E}"/>
              </a:ext>
            </a:extLst>
          </p:cNvPr>
          <p:cNvSpPr>
            <a:spLocks noGrp="1"/>
          </p:cNvSpPr>
          <p:nvPr>
            <p:ph type="title"/>
          </p:nvPr>
        </p:nvSpPr>
        <p:spPr/>
        <p:txBody>
          <a:bodyPr/>
          <a:lstStyle/>
          <a:p>
            <a:r>
              <a:rPr lang="pl-PL" dirty="0"/>
              <a:t>Przykłady Działania</a:t>
            </a:r>
          </a:p>
        </p:txBody>
      </p:sp>
      <p:sp>
        <p:nvSpPr>
          <p:cNvPr id="4" name="pole tekstowe 3">
            <a:extLst>
              <a:ext uri="{FF2B5EF4-FFF2-40B4-BE49-F238E27FC236}">
                <a16:creationId xmlns:a16="http://schemas.microsoft.com/office/drawing/2014/main" id="{D4CB8993-1160-0266-892C-030E09383E5C}"/>
              </a:ext>
            </a:extLst>
          </p:cNvPr>
          <p:cNvSpPr txBox="1"/>
          <p:nvPr/>
        </p:nvSpPr>
        <p:spPr>
          <a:xfrm>
            <a:off x="1141412" y="2097088"/>
            <a:ext cx="9623997" cy="1938992"/>
          </a:xfrm>
          <a:prstGeom prst="rect">
            <a:avLst/>
          </a:prstGeom>
          <a:noFill/>
        </p:spPr>
        <p:txBody>
          <a:bodyPr wrap="square">
            <a:spAutoFit/>
          </a:bodyPr>
          <a:lstStyle/>
          <a:p>
            <a:r>
              <a:rPr lang="pl-PL" sz="2400" dirty="0"/>
              <a:t>Działanie programu przedstawiono na wizualizacjach. Dla zadanego punktu (zielony kolor), system podświetla aktualnie testowany separator (kolor pomarańczowy) oraz konkretny segment (kolor niebieski). Wynikiem działania algorytmu jest wskazanie krawędzi regionu zawierającego punkt, co oznaczono kolorem czerwonym</a:t>
            </a:r>
          </a:p>
        </p:txBody>
      </p:sp>
    </p:spTree>
    <p:extLst>
      <p:ext uri="{BB962C8B-B14F-4D97-AF65-F5344CB8AC3E}">
        <p14:creationId xmlns:p14="http://schemas.microsoft.com/office/powerpoint/2010/main" val="10227608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D6480B6-97CC-4D23-F267-14CD748F78FB}"/>
              </a:ext>
            </a:extLst>
          </p:cNvPr>
          <p:cNvSpPr>
            <a:spLocks noGrp="1"/>
          </p:cNvSpPr>
          <p:nvPr>
            <p:ph type="title"/>
          </p:nvPr>
        </p:nvSpPr>
        <p:spPr/>
        <p:txBody>
          <a:bodyPr/>
          <a:lstStyle/>
          <a:p>
            <a:r>
              <a:rPr lang="pl-PL" dirty="0"/>
              <a:t>Zbiór wygenerowany proceduralnie</a:t>
            </a:r>
          </a:p>
        </p:txBody>
      </p:sp>
      <p:pic>
        <p:nvPicPr>
          <p:cNvPr id="11" name="Obraz 10">
            <a:extLst>
              <a:ext uri="{FF2B5EF4-FFF2-40B4-BE49-F238E27FC236}">
                <a16:creationId xmlns:a16="http://schemas.microsoft.com/office/drawing/2014/main" id="{8A818BAA-8E8F-B8B8-CA08-58FECB0BCD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32816" y="2057846"/>
            <a:ext cx="5575513" cy="4181636"/>
          </a:xfrm>
          <a:prstGeom prst="rect">
            <a:avLst/>
          </a:prstGeom>
        </p:spPr>
      </p:pic>
    </p:spTree>
    <p:extLst>
      <p:ext uri="{BB962C8B-B14F-4D97-AF65-F5344CB8AC3E}">
        <p14:creationId xmlns:p14="http://schemas.microsoft.com/office/powerpoint/2010/main" val="23243524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F7AFD16-F9B7-82E4-D1F7-B9668CDFB148}"/>
              </a:ext>
            </a:extLst>
          </p:cNvPr>
          <p:cNvSpPr>
            <a:spLocks noGrp="1"/>
          </p:cNvSpPr>
          <p:nvPr>
            <p:ph type="title"/>
          </p:nvPr>
        </p:nvSpPr>
        <p:spPr/>
        <p:txBody>
          <a:bodyPr/>
          <a:lstStyle/>
          <a:p>
            <a:r>
              <a:rPr lang="pl-PL" dirty="0"/>
              <a:t>Zbiór Wygenerowany losowo</a:t>
            </a:r>
          </a:p>
        </p:txBody>
      </p:sp>
      <p:pic>
        <p:nvPicPr>
          <p:cNvPr id="5" name="Symbol zastępczy zawartości 4">
            <a:extLst>
              <a:ext uri="{FF2B5EF4-FFF2-40B4-BE49-F238E27FC236}">
                <a16:creationId xmlns:a16="http://schemas.microsoft.com/office/drawing/2014/main" id="{714F9E8C-D3A4-788B-C4A2-035668D9F10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81915" y="1950974"/>
            <a:ext cx="5824993" cy="4368746"/>
          </a:xfrm>
        </p:spPr>
      </p:pic>
    </p:spTree>
    <p:extLst>
      <p:ext uri="{BB962C8B-B14F-4D97-AF65-F5344CB8AC3E}">
        <p14:creationId xmlns:p14="http://schemas.microsoft.com/office/powerpoint/2010/main" val="700107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4F19350-93C6-1392-6F7F-16F851A24959}"/>
              </a:ext>
            </a:extLst>
          </p:cNvPr>
          <p:cNvSpPr>
            <a:spLocks noGrp="1"/>
          </p:cNvSpPr>
          <p:nvPr>
            <p:ph type="title"/>
          </p:nvPr>
        </p:nvSpPr>
        <p:spPr/>
        <p:txBody>
          <a:bodyPr/>
          <a:lstStyle/>
          <a:p>
            <a:r>
              <a:rPr lang="pl-PL" dirty="0"/>
              <a:t>Obsługa przypadków brzegowych</a:t>
            </a:r>
          </a:p>
        </p:txBody>
      </p:sp>
      <p:sp>
        <p:nvSpPr>
          <p:cNvPr id="4" name="Rectangle 1">
            <a:extLst>
              <a:ext uri="{FF2B5EF4-FFF2-40B4-BE49-F238E27FC236}">
                <a16:creationId xmlns:a16="http://schemas.microsoft.com/office/drawing/2014/main" id="{7FC698C3-AC68-F914-CEB1-673EFE024EDF}"/>
              </a:ext>
            </a:extLst>
          </p:cNvPr>
          <p:cNvSpPr>
            <a:spLocks noGrp="1" noChangeArrowheads="1"/>
          </p:cNvSpPr>
          <p:nvPr>
            <p:ph idx="1"/>
          </p:nvPr>
        </p:nvSpPr>
        <p:spPr bwMode="auto">
          <a:xfrm>
            <a:off x="1141412" y="2138934"/>
            <a:ext cx="5975825" cy="300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latin typeface="Arial" panose="020B0604020202020204" pitchFamily="34" charset="0"/>
                <a:cs typeface="Arial" panose="020B0604020202020204" pitchFamily="34" charset="0"/>
              </a:rPr>
              <a:t>W implementacji uwzględniono problemy numeryczne typowe dla geometrii obliczeniowej. Zastosowano stałą </a:t>
            </a:r>
          </a:p>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eps</a:t>
            </a:r>
            <a:r>
              <a:rPr kumimoji="0" lang="pl-PL" altLang="pl-PL" b="0" i="0" u="none" strike="noStrike" cap="none" normalizeH="0" baseline="0" dirty="0">
                <a:ln>
                  <a:noFill/>
                </a:ln>
                <a:solidFill>
                  <a:schemeClr val="tx1"/>
                </a:solidFill>
                <a:effectLst/>
                <a:latin typeface="Arial" panose="020B0604020202020204" pitchFamily="34" charset="0"/>
                <a:cs typeface="Arial" panose="020B0604020202020204" pitchFamily="34" charset="0"/>
              </a:rPr>
              <a:t> rzędu 10^-12 do porównań zmiennoprzecinkowych. Obsłużono również przypadki zdegenerowane, takie jak położenie punktu idealnie na krawędzi separatora.</a:t>
            </a:r>
          </a:p>
        </p:txBody>
      </p:sp>
      <p:pic>
        <p:nvPicPr>
          <p:cNvPr id="6" name="Obraz 5">
            <a:extLst>
              <a:ext uri="{FF2B5EF4-FFF2-40B4-BE49-F238E27FC236}">
                <a16:creationId xmlns:a16="http://schemas.microsoft.com/office/drawing/2014/main" id="{4855B1BD-2E6A-AB57-FFF5-8E67FDFEB5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12610" y="2138934"/>
            <a:ext cx="4135225" cy="3101419"/>
          </a:xfrm>
          <a:prstGeom prst="rect">
            <a:avLst/>
          </a:prstGeom>
        </p:spPr>
      </p:pic>
    </p:spTree>
    <p:extLst>
      <p:ext uri="{BB962C8B-B14F-4D97-AF65-F5344CB8AC3E}">
        <p14:creationId xmlns:p14="http://schemas.microsoft.com/office/powerpoint/2010/main" val="22781601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BBD4876-87D1-26E8-B312-18A64C7F1DAB}"/>
              </a:ext>
            </a:extLst>
          </p:cNvPr>
          <p:cNvSpPr>
            <a:spLocks noGrp="1"/>
          </p:cNvSpPr>
          <p:nvPr>
            <p:ph type="title"/>
          </p:nvPr>
        </p:nvSpPr>
        <p:spPr/>
        <p:txBody>
          <a:bodyPr/>
          <a:lstStyle/>
          <a:p>
            <a:r>
              <a:rPr lang="pl-PL" dirty="0"/>
              <a:t>Podsumowanie</a:t>
            </a:r>
          </a:p>
        </p:txBody>
      </p:sp>
      <p:sp>
        <p:nvSpPr>
          <p:cNvPr id="3" name="Symbol zastępczy zawartości 2">
            <a:extLst>
              <a:ext uri="{FF2B5EF4-FFF2-40B4-BE49-F238E27FC236}">
                <a16:creationId xmlns:a16="http://schemas.microsoft.com/office/drawing/2014/main" id="{AA5E92E6-5C3C-78F1-5415-AEADEFD9E65E}"/>
              </a:ext>
            </a:extLst>
          </p:cNvPr>
          <p:cNvSpPr>
            <a:spLocks noGrp="1"/>
          </p:cNvSpPr>
          <p:nvPr>
            <p:ph idx="1"/>
          </p:nvPr>
        </p:nvSpPr>
        <p:spPr/>
        <p:txBody>
          <a:bodyPr/>
          <a:lstStyle/>
          <a:p>
            <a:pPr marL="0" indent="0">
              <a:buNone/>
            </a:pPr>
            <a:r>
              <a:rPr lang="pl-PL" dirty="0"/>
              <a:t>Metoda Separatorów charakteryzuje się wysoką efektywnością fazy zapytań, co czyni ją odpowiednią dla statycznych podziałów mapy. Kluczowym aspektem poprawnego działania jest przygotowanie danych, obejmujący triangulację i wyznaczenie wag planarnych. Implementacja potwierdziła poprawność i wydajność metody dla zróżnicowanych danych testowych.</a:t>
            </a:r>
          </a:p>
        </p:txBody>
      </p:sp>
    </p:spTree>
    <p:extLst>
      <p:ext uri="{BB962C8B-B14F-4D97-AF65-F5344CB8AC3E}">
        <p14:creationId xmlns:p14="http://schemas.microsoft.com/office/powerpoint/2010/main" val="29930152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09B761F-3F45-9524-DE23-01132F0590A3}"/>
              </a:ext>
            </a:extLst>
          </p:cNvPr>
          <p:cNvSpPr>
            <a:spLocks noGrp="1"/>
          </p:cNvSpPr>
          <p:nvPr>
            <p:ph type="title"/>
          </p:nvPr>
        </p:nvSpPr>
        <p:spPr/>
        <p:txBody>
          <a:bodyPr/>
          <a:lstStyle/>
          <a:p>
            <a:r>
              <a:rPr lang="pl-PL" dirty="0"/>
              <a:t>Bibliografia</a:t>
            </a:r>
          </a:p>
        </p:txBody>
      </p:sp>
      <p:sp>
        <p:nvSpPr>
          <p:cNvPr id="3" name="Symbol zastępczy zawartości 2">
            <a:extLst>
              <a:ext uri="{FF2B5EF4-FFF2-40B4-BE49-F238E27FC236}">
                <a16:creationId xmlns:a16="http://schemas.microsoft.com/office/drawing/2014/main" id="{E28E2485-81FE-B8A0-E669-7C8000C7F9C9}"/>
              </a:ext>
            </a:extLst>
          </p:cNvPr>
          <p:cNvSpPr>
            <a:spLocks noGrp="1"/>
          </p:cNvSpPr>
          <p:nvPr>
            <p:ph idx="1"/>
          </p:nvPr>
        </p:nvSpPr>
        <p:spPr/>
        <p:txBody>
          <a:bodyPr/>
          <a:lstStyle/>
          <a:p>
            <a:endParaRPr lang="pl-PL" dirty="0"/>
          </a:p>
        </p:txBody>
      </p:sp>
    </p:spTree>
    <p:extLst>
      <p:ext uri="{BB962C8B-B14F-4D97-AF65-F5344CB8AC3E}">
        <p14:creationId xmlns:p14="http://schemas.microsoft.com/office/powerpoint/2010/main" val="41666449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7C2F286-097F-ACF5-E989-1122B542E7BA}"/>
              </a:ext>
            </a:extLst>
          </p:cNvPr>
          <p:cNvSpPr>
            <a:spLocks noGrp="1"/>
          </p:cNvSpPr>
          <p:nvPr>
            <p:ph type="title"/>
          </p:nvPr>
        </p:nvSpPr>
        <p:spPr/>
        <p:txBody>
          <a:bodyPr/>
          <a:lstStyle/>
          <a:p>
            <a:r>
              <a:rPr lang="pl-PL" dirty="0"/>
              <a:t>Koniec</a:t>
            </a:r>
          </a:p>
        </p:txBody>
      </p:sp>
      <p:sp>
        <p:nvSpPr>
          <p:cNvPr id="3" name="Symbol zastępczy zawartości 2">
            <a:extLst>
              <a:ext uri="{FF2B5EF4-FFF2-40B4-BE49-F238E27FC236}">
                <a16:creationId xmlns:a16="http://schemas.microsoft.com/office/drawing/2014/main" id="{ABAEA2A6-A4FB-20F4-AB53-5976C2640519}"/>
              </a:ext>
            </a:extLst>
          </p:cNvPr>
          <p:cNvSpPr>
            <a:spLocks noGrp="1"/>
          </p:cNvSpPr>
          <p:nvPr>
            <p:ph idx="1"/>
          </p:nvPr>
        </p:nvSpPr>
        <p:spPr/>
        <p:txBody>
          <a:bodyPr/>
          <a:lstStyle/>
          <a:p>
            <a:pPr marL="0" indent="0">
              <a:buNone/>
            </a:pPr>
            <a:r>
              <a:rPr lang="pl-PL" dirty="0"/>
              <a:t>Dziękujemy za uwagę</a:t>
            </a:r>
          </a:p>
        </p:txBody>
      </p:sp>
    </p:spTree>
    <p:extLst>
      <p:ext uri="{BB962C8B-B14F-4D97-AF65-F5344CB8AC3E}">
        <p14:creationId xmlns:p14="http://schemas.microsoft.com/office/powerpoint/2010/main" val="238398376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bwód">
  <a:themeElements>
    <a:clrScheme name="Obwód">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Obwód">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bwód">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docProps/app.xml><?xml version="1.0" encoding="utf-8"?>
<Properties xmlns="http://schemas.openxmlformats.org/officeDocument/2006/extended-properties" xmlns:vt="http://schemas.openxmlformats.org/officeDocument/2006/docPropsVTypes">
  <Template>TM04033919[[fn=Obwód]]</Template>
  <TotalTime>181</TotalTime>
  <Words>971</Words>
  <Application>Microsoft Office PowerPoint</Application>
  <PresentationFormat>Panoramiczny</PresentationFormat>
  <Paragraphs>44</Paragraphs>
  <Slides>21</Slides>
  <Notes>0</Notes>
  <HiddenSlides>0</HiddenSlides>
  <MMClips>0</MMClips>
  <ScaleCrop>false</ScaleCrop>
  <HeadingPairs>
    <vt:vector size="6" baseType="variant">
      <vt:variant>
        <vt:lpstr>Używane czcionki</vt:lpstr>
      </vt:variant>
      <vt:variant>
        <vt:i4>2</vt:i4>
      </vt:variant>
      <vt:variant>
        <vt:lpstr>Motyw</vt:lpstr>
      </vt:variant>
      <vt:variant>
        <vt:i4>1</vt:i4>
      </vt:variant>
      <vt:variant>
        <vt:lpstr>Tytuły slajdów</vt:lpstr>
      </vt:variant>
      <vt:variant>
        <vt:i4>21</vt:i4>
      </vt:variant>
    </vt:vector>
  </HeadingPairs>
  <TitlesOfParts>
    <vt:vector size="24" baseType="lpstr">
      <vt:lpstr>Arial</vt:lpstr>
      <vt:lpstr>Tw Cen MT</vt:lpstr>
      <vt:lpstr>Obwód</vt:lpstr>
      <vt:lpstr>Lokalizacja punktu w przestrzeni dwuwymiarowej, Metoda Separatorów</vt:lpstr>
      <vt:lpstr>Definicja Problemu</vt:lpstr>
      <vt:lpstr>Założenia wstępne – Monotoniczność</vt:lpstr>
      <vt:lpstr>Reprezentacja Grafowa</vt:lpstr>
      <vt:lpstr>Definicja Separatora</vt:lpstr>
      <vt:lpstr>Wyznaczanie Wag – Idea przepływu</vt:lpstr>
      <vt:lpstr>Wyznaczanie Wag – Realizacja Dwuprzebiegowa</vt:lpstr>
      <vt:lpstr>Algorytm Generowania Łańcuchów (Separatorów)</vt:lpstr>
      <vt:lpstr>Budowa Drzewa Poszukiwań</vt:lpstr>
      <vt:lpstr>Wizualizacja DrzewA poszukiwań</vt:lpstr>
      <vt:lpstr>Algorytm Zapytania – Teoria</vt:lpstr>
      <vt:lpstr>Algorytm Zapytania – IMplementacja</vt:lpstr>
      <vt:lpstr>Konstrukcja Wyniku</vt:lpstr>
      <vt:lpstr>Konstrukcja wyniku </vt:lpstr>
      <vt:lpstr>Przykłady Działania</vt:lpstr>
      <vt:lpstr>Zbiór wygenerowany proceduralnie</vt:lpstr>
      <vt:lpstr>Zbiór Wygenerowany losowo</vt:lpstr>
      <vt:lpstr>Obsługa przypadków brzegowych</vt:lpstr>
      <vt:lpstr>Podsumowanie</vt:lpstr>
      <vt:lpstr>Bibliografia</vt:lpstr>
      <vt:lpstr>Koniec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Jacek Łoboda</dc:creator>
  <cp:lastModifiedBy>Jacek Łoboda</cp:lastModifiedBy>
  <cp:revision>2</cp:revision>
  <dcterms:created xsi:type="dcterms:W3CDTF">2026-01-07T09:57:27Z</dcterms:created>
  <dcterms:modified xsi:type="dcterms:W3CDTF">2026-01-08T11:19:04Z</dcterms:modified>
</cp:coreProperties>
</file>
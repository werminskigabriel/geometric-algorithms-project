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67" r:id="rId5"/>
    <p:sldId id="259" r:id="rId6"/>
    <p:sldId id="260" r:id="rId7"/>
    <p:sldId id="268" r:id="rId8"/>
    <p:sldId id="261" r:id="rId9"/>
    <p:sldId id="277" r:id="rId10"/>
    <p:sldId id="269" r:id="rId11"/>
    <p:sldId id="262" r:id="rId12"/>
    <p:sldId id="270" r:id="rId13"/>
    <p:sldId id="263" r:id="rId14"/>
    <p:sldId id="273" r:id="rId15"/>
    <p:sldId id="264" r:id="rId16"/>
    <p:sldId id="276" r:id="rId17"/>
    <p:sldId id="275" r:id="rId18"/>
    <p:sldId id="271" r:id="rId19"/>
    <p:sldId id="272" r:id="rId20"/>
    <p:sldId id="265" r:id="rId21"/>
    <p:sldId id="26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varScale="1">
        <p:scale>
          <a:sx n="102" d="100"/>
          <a:sy n="102" d="100"/>
        </p:scale>
        <p:origin x="24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pl-PL"/>
              <a:t>Kliknij, aby edytować styl</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6E37D865-3556-4CE5-B574-A35DADBAEBFC}" type="datetimeFigureOut">
              <a:rPr lang="pl-PL" smtClean="0"/>
              <a:t>12.01.2026</a:t>
            </a:fld>
            <a:endParaRPr lang="pl-PL"/>
          </a:p>
        </p:txBody>
      </p:sp>
      <p:sp>
        <p:nvSpPr>
          <p:cNvPr id="5" name="Footer Placeholder 4"/>
          <p:cNvSpPr>
            <a:spLocks noGrp="1"/>
          </p:cNvSpPr>
          <p:nvPr>
            <p:ph type="ftr" sz="quarter" idx="11"/>
          </p:nvPr>
        </p:nvSpPr>
        <p:spPr>
          <a:xfrm>
            <a:off x="1876424" y="5410201"/>
            <a:ext cx="5124886" cy="365125"/>
          </a:xfrm>
        </p:spPr>
        <p:txBody>
          <a:bodyPr/>
          <a:lstStyle/>
          <a:p>
            <a:endParaRPr lang="pl-PL"/>
          </a:p>
        </p:txBody>
      </p:sp>
      <p:sp>
        <p:nvSpPr>
          <p:cNvPr id="6" name="Slide Number Placeholder 5"/>
          <p:cNvSpPr>
            <a:spLocks noGrp="1"/>
          </p:cNvSpPr>
          <p:nvPr>
            <p:ph type="sldNum" sz="quarter" idx="12"/>
          </p:nvPr>
        </p:nvSpPr>
        <p:spPr>
          <a:xfrm>
            <a:off x="9896911" y="5410199"/>
            <a:ext cx="771089" cy="365125"/>
          </a:xfrm>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4124648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6E37D865-3556-4CE5-B574-A35DADBAEBFC}" type="datetimeFigureOut">
              <a:rPr lang="pl-PL" smtClean="0"/>
              <a:t>12.01.2026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2041852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pl-PL"/>
              <a:t>Kliknij, aby edytować styl</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6E37D865-3556-4CE5-B574-A35DADBAEBFC}" type="datetimeFigureOut">
              <a:rPr lang="pl-PL" smtClean="0"/>
              <a:t>12.01.2026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578376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4"/>
          <p:cNvSpPr>
            <a:spLocks noGrp="1"/>
          </p:cNvSpPr>
          <p:nvPr>
            <p:ph type="dt" sz="half" idx="10"/>
          </p:nvPr>
        </p:nvSpPr>
        <p:spPr/>
        <p:txBody>
          <a:bodyPr/>
          <a:lstStyle/>
          <a:p>
            <a:fld id="{6E37D865-3556-4CE5-B574-A35DADBAEBFC}" type="datetimeFigureOut">
              <a:rPr lang="pl-PL" smtClean="0"/>
              <a:t>12.01.2026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1781480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pl-PL"/>
              <a:t>Kliknij, aby edytować styl</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Content Placeholder 3"/>
          <p:cNvSpPr>
            <a:spLocks noGrp="1"/>
          </p:cNvSpPr>
          <p:nvPr>
            <p:ph sz="half" idx="2"/>
          </p:nvPr>
        </p:nvSpPr>
        <p:spPr>
          <a:xfrm>
            <a:off x="1141410" y="3073397"/>
            <a:ext cx="4878391" cy="2717801"/>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Content Placeholder 5"/>
          <p:cNvSpPr>
            <a:spLocks noGrp="1"/>
          </p:cNvSpPr>
          <p:nvPr>
            <p:ph sz="quarter" idx="4"/>
          </p:nvPr>
        </p:nvSpPr>
        <p:spPr>
          <a:xfrm>
            <a:off x="6172200" y="3073397"/>
            <a:ext cx="4875210" cy="2717801"/>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6E37D865-3556-4CE5-B574-A35DADBAEBFC}" type="datetimeFigureOut">
              <a:rPr lang="pl-PL" smtClean="0"/>
              <a:t>12.01.2026</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1703723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Date Placeholder 2"/>
          <p:cNvSpPr>
            <a:spLocks noGrp="1"/>
          </p:cNvSpPr>
          <p:nvPr>
            <p:ph type="dt" sz="half" idx="10"/>
          </p:nvPr>
        </p:nvSpPr>
        <p:spPr/>
        <p:txBody>
          <a:bodyPr/>
          <a:lstStyle/>
          <a:p>
            <a:fld id="{6E37D865-3556-4CE5-B574-A35DADBAEBFC}" type="datetimeFigureOut">
              <a:rPr lang="pl-PL" smtClean="0"/>
              <a:t>12.01.2026</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2081955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37D865-3556-4CE5-B574-A35DADBAEBFC}" type="datetimeFigureOut">
              <a:rPr lang="pl-PL" smtClean="0"/>
              <a:t>12.01.2026</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4278647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pl-PL"/>
              <a:t>Kliknij, aby edytować styl</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6E37D865-3556-4CE5-B574-A35DADBAEBFC}" type="datetimeFigureOut">
              <a:rPr lang="pl-PL" smtClean="0"/>
              <a:t>12.01.2026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1733413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pl-PL"/>
              <a:t>Kliknij, aby edytować styl</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l-PL"/>
              <a:t>Kliknij ikonę, aby dodać obraz</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6E37D865-3556-4CE5-B574-A35DADBAEBFC}" type="datetimeFigureOut">
              <a:rPr lang="pl-PL" smtClean="0"/>
              <a:t>12.01.2026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2397352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braz panoramiczny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pl-PL"/>
              <a:t>Kliknij, aby edytować styl</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pl-PL"/>
              <a:t>Kliknij ikonę, aby dodać obraz</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6E37D865-3556-4CE5-B574-A35DADBAEBFC}" type="datetimeFigureOut">
              <a:rPr lang="pl-PL" smtClean="0"/>
              <a:t>12.01.2026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1636434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ytuł i podpis">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pl-PL"/>
              <a:t>Kliknij, aby edytować styl</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6E37D865-3556-4CE5-B574-A35DADBAEBFC}" type="datetimeFigureOut">
              <a:rPr lang="pl-PL" smtClean="0"/>
              <a:t>12.01.2026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448261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ferta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pl-PL"/>
              <a:t>Kliknij, aby edytować styl</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6E37D865-3556-4CE5-B574-A35DADBAEBFC}" type="datetimeFigureOut">
              <a:rPr lang="pl-PL" smtClean="0"/>
              <a:t>12.01.2026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64676333-3DA7-4B6A-90D3-D386D3919E55}" type="slidenum">
              <a:rPr lang="pl-PL" smtClean="0"/>
              <a:t>‹#›</a:t>
            </a:fld>
            <a:endParaRPr lang="pl-PL"/>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08280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arta nazwy">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pl-PL"/>
              <a:t>Kliknij, aby edytować styl</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6E37D865-3556-4CE5-B574-A35DADBAEBFC}" type="datetimeFigureOut">
              <a:rPr lang="pl-PL" smtClean="0"/>
              <a:t>12.01.2026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27497873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umna">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pl-PL"/>
              <a:t>Kliknij, aby edytować styl</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3" name="Date Placeholder 2"/>
          <p:cNvSpPr>
            <a:spLocks noGrp="1"/>
          </p:cNvSpPr>
          <p:nvPr>
            <p:ph type="dt" sz="half" idx="10"/>
          </p:nvPr>
        </p:nvSpPr>
        <p:spPr/>
        <p:txBody>
          <a:bodyPr/>
          <a:lstStyle/>
          <a:p>
            <a:fld id="{6E37D865-3556-4CE5-B574-A35DADBAEBFC}" type="datetimeFigureOut">
              <a:rPr lang="pl-PL" smtClean="0"/>
              <a:t>12.01.2026</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4145152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olumna obrazu">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pl-PL"/>
              <a:t>Kliknij, aby edytować styl</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l-PL"/>
              <a:t>Kliknij ikonę, aby dodać obraz</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l-PL"/>
              <a:t>Kliknij ikonę, aby dodać obraz</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pl-PL"/>
              <a:t>Kliknij ikonę, aby dodać obraz</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3" name="Date Placeholder 2"/>
          <p:cNvSpPr>
            <a:spLocks noGrp="1"/>
          </p:cNvSpPr>
          <p:nvPr>
            <p:ph type="dt" sz="half" idx="10"/>
          </p:nvPr>
        </p:nvSpPr>
        <p:spPr/>
        <p:txBody>
          <a:bodyPr/>
          <a:lstStyle/>
          <a:p>
            <a:fld id="{6E37D865-3556-4CE5-B574-A35DADBAEBFC}" type="datetimeFigureOut">
              <a:rPr lang="pl-PL" smtClean="0"/>
              <a:t>12.01.2026</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1485778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ncho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6E37D865-3556-4CE5-B574-A35DADBAEBFC}" type="datetimeFigureOut">
              <a:rPr lang="pl-PL" smtClean="0"/>
              <a:t>12.01.2026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1970828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pl-PL"/>
              <a:t>Kliknij, aby edytować styl</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6E37D865-3556-4CE5-B574-A35DADBAEBFC}" type="datetimeFigureOut">
              <a:rPr lang="pl-PL" smtClean="0"/>
              <a:t>12.01.2026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64676333-3DA7-4B6A-90D3-D386D3919E55}" type="slidenum">
              <a:rPr lang="pl-PL" smtClean="0"/>
              <a:t>‹#›</a:t>
            </a:fld>
            <a:endParaRPr lang="pl-PL"/>
          </a:p>
        </p:txBody>
      </p:sp>
    </p:spTree>
    <p:extLst>
      <p:ext uri="{BB962C8B-B14F-4D97-AF65-F5344CB8AC3E}">
        <p14:creationId xmlns:p14="http://schemas.microsoft.com/office/powerpoint/2010/main" val="1573506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E37D865-3556-4CE5-B574-A35DADBAEBFC}" type="datetimeFigureOut">
              <a:rPr lang="pl-PL" smtClean="0"/>
              <a:t>12.01.2026</a:t>
            </a:fld>
            <a:endParaRPr lang="pl-PL"/>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pl-PL"/>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4676333-3DA7-4B6A-90D3-D386D3919E55}" type="slidenum">
              <a:rPr lang="pl-PL" smtClean="0"/>
              <a:t>‹#›</a:t>
            </a:fld>
            <a:endParaRPr lang="pl-PL"/>
          </a:p>
        </p:txBody>
      </p:sp>
    </p:spTree>
    <p:extLst>
      <p:ext uri="{BB962C8B-B14F-4D97-AF65-F5344CB8AC3E}">
        <p14:creationId xmlns:p14="http://schemas.microsoft.com/office/powerpoint/2010/main" val="66886208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l.acm.org/doi/epdf/10.1145/800113.803653" TargetMode="External"/><Relationship Id="rId2" Type="http://schemas.openxmlformats.org/officeDocument/2006/relationships/hyperlink" Target="https://cs.brown.edu/courses/cs252/misc/resources/lectures/pdf/notes05.pdf" TargetMode="External"/><Relationship Id="rId1" Type="http://schemas.openxmlformats.org/officeDocument/2006/relationships/slideLayout" Target="../slideLayouts/slideLayout2.xml"/><Relationship Id="rId4" Type="http://schemas.openxmlformats.org/officeDocument/2006/relationships/hyperlink" Target="https://graphics.stanford.edu/courses/cs268-11-spring/notes/opt_point_loc.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46702A3-750C-AF6F-0FAF-B8E81776730C}"/>
              </a:ext>
            </a:extLst>
          </p:cNvPr>
          <p:cNvSpPr>
            <a:spLocks noGrp="1"/>
          </p:cNvSpPr>
          <p:nvPr>
            <p:ph type="ctrTitle"/>
          </p:nvPr>
        </p:nvSpPr>
        <p:spPr>
          <a:xfrm>
            <a:off x="1876424" y="868362"/>
            <a:ext cx="8791575" cy="2387600"/>
          </a:xfrm>
        </p:spPr>
        <p:txBody>
          <a:bodyPr>
            <a:normAutofit fontScale="90000"/>
          </a:bodyPr>
          <a:lstStyle/>
          <a:p>
            <a:r>
              <a:rPr lang="pl-PL" b="1" dirty="0"/>
              <a:t>Lokalizacja punktu w przestrzeni dwuwymiarowej, Metoda Separatorów</a:t>
            </a:r>
            <a:endParaRPr lang="pl-PL" dirty="0"/>
          </a:p>
        </p:txBody>
      </p:sp>
      <p:sp>
        <p:nvSpPr>
          <p:cNvPr id="3" name="Podtytuł 2">
            <a:extLst>
              <a:ext uri="{FF2B5EF4-FFF2-40B4-BE49-F238E27FC236}">
                <a16:creationId xmlns:a16="http://schemas.microsoft.com/office/drawing/2014/main" id="{9CE1B2B4-1212-DF28-1123-3578690B749D}"/>
              </a:ext>
            </a:extLst>
          </p:cNvPr>
          <p:cNvSpPr>
            <a:spLocks noGrp="1"/>
          </p:cNvSpPr>
          <p:nvPr>
            <p:ph type="subTitle" idx="1"/>
          </p:nvPr>
        </p:nvSpPr>
        <p:spPr/>
        <p:txBody>
          <a:bodyPr/>
          <a:lstStyle/>
          <a:p>
            <a:r>
              <a:rPr lang="pl-PL" dirty="0"/>
              <a:t>Autorzy: Jacek Łoboda, Gabriel Wermiński</a:t>
            </a:r>
          </a:p>
        </p:txBody>
      </p:sp>
    </p:spTree>
    <p:extLst>
      <p:ext uri="{BB962C8B-B14F-4D97-AF65-F5344CB8AC3E}">
        <p14:creationId xmlns:p14="http://schemas.microsoft.com/office/powerpoint/2010/main" val="223591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6A5716-B000-2764-EEAD-52B4515D8076}"/>
              </a:ext>
            </a:extLst>
          </p:cNvPr>
          <p:cNvSpPr>
            <a:spLocks noGrp="1"/>
          </p:cNvSpPr>
          <p:nvPr>
            <p:ph type="title"/>
          </p:nvPr>
        </p:nvSpPr>
        <p:spPr/>
        <p:txBody>
          <a:bodyPr/>
          <a:lstStyle/>
          <a:p>
            <a:r>
              <a:rPr lang="pl-PL" dirty="0"/>
              <a:t>Definicja Problemu</a:t>
            </a:r>
          </a:p>
        </p:txBody>
      </p:sp>
      <p:sp>
        <p:nvSpPr>
          <p:cNvPr id="3" name="Symbol zastępczy zawartości 2">
            <a:extLst>
              <a:ext uri="{FF2B5EF4-FFF2-40B4-BE49-F238E27FC236}">
                <a16:creationId xmlns:a16="http://schemas.microsoft.com/office/drawing/2014/main" id="{5B9FF4B4-6051-9B3F-BC93-391C1D3A54B1}"/>
              </a:ext>
            </a:extLst>
          </p:cNvPr>
          <p:cNvSpPr>
            <a:spLocks noGrp="1"/>
          </p:cNvSpPr>
          <p:nvPr>
            <p:ph idx="1"/>
          </p:nvPr>
        </p:nvSpPr>
        <p:spPr/>
        <p:txBody>
          <a:bodyPr/>
          <a:lstStyle/>
          <a:p>
            <a:pPr marL="0" indent="0">
              <a:buNone/>
            </a:pPr>
            <a:r>
              <a:rPr lang="pl-PL" dirty="0"/>
              <a:t>Problem lokalizacji punktu polega na znalezieniu regionu Rᵢ w podziale płaszczyzny S, który zawiera dany punkt zapytania p. Jest to fundamentalne zagadnienie w systemach informacji geograficznej (GIS) oraz grafice komputerowej, gdzie wykonuje się tysiące takich zapytań na sekundę. Naiwne przeszukiwanie liniowe o złożoności O(N) jest w takich zastosowaniach nieefektywne, dlatego celem projektu jest redukcja czasu zapytania do złożoności logarytmicznej O(log² N).</a:t>
            </a:r>
          </a:p>
        </p:txBody>
      </p:sp>
    </p:spTree>
    <p:extLst>
      <p:ext uri="{BB962C8B-B14F-4D97-AF65-F5344CB8AC3E}">
        <p14:creationId xmlns:p14="http://schemas.microsoft.com/office/powerpoint/2010/main" val="3737188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A3EA575-5B80-ACFD-9C14-82123A266E04}"/>
              </a:ext>
            </a:extLst>
          </p:cNvPr>
          <p:cNvSpPr>
            <a:spLocks noGrp="1"/>
          </p:cNvSpPr>
          <p:nvPr>
            <p:ph type="title"/>
          </p:nvPr>
        </p:nvSpPr>
        <p:spPr/>
        <p:txBody>
          <a:bodyPr/>
          <a:lstStyle/>
          <a:p>
            <a:r>
              <a:rPr lang="pl-PL" dirty="0"/>
              <a:t>Założenia wstępne – Monotoniczność</a:t>
            </a:r>
          </a:p>
        </p:txBody>
      </p:sp>
      <p:sp>
        <p:nvSpPr>
          <p:cNvPr id="3" name="Symbol zastępczy zawartości 2">
            <a:extLst>
              <a:ext uri="{FF2B5EF4-FFF2-40B4-BE49-F238E27FC236}">
                <a16:creationId xmlns:a16="http://schemas.microsoft.com/office/drawing/2014/main" id="{C3AE591A-3AFC-4411-0745-67947E238CEF}"/>
              </a:ext>
            </a:extLst>
          </p:cNvPr>
          <p:cNvSpPr>
            <a:spLocks noGrp="1"/>
          </p:cNvSpPr>
          <p:nvPr>
            <p:ph idx="1"/>
          </p:nvPr>
        </p:nvSpPr>
        <p:spPr>
          <a:xfrm>
            <a:off x="1141413" y="2249487"/>
            <a:ext cx="7295578" cy="3541714"/>
          </a:xfrm>
        </p:spPr>
        <p:txBody>
          <a:bodyPr>
            <a:normAutofit fontScale="92500" lnSpcReduction="10000"/>
          </a:bodyPr>
          <a:lstStyle/>
          <a:p>
            <a:pPr marL="0" indent="0">
              <a:buNone/>
            </a:pPr>
            <a:r>
              <a:rPr lang="pl-PL" dirty="0"/>
              <a:t>Fundamentalnym wymogiem metody separatorów jest monotoniczność obszarów. Oznacza to, że każda prosta pozioma przecina dany region w co najwyżej dwóch punktach. Ponieważ rzeczywiste wielokąty często są wklęsłe i nie spełniają tego warunku, konieczna jest </a:t>
            </a:r>
            <a:r>
              <a:rPr lang="pl-PL" dirty="0" err="1"/>
              <a:t>regularyzacja</a:t>
            </a:r>
            <a:r>
              <a:rPr lang="pl-PL" dirty="0"/>
              <a:t>. W projekcie zastosowano algorytm triangulacji </a:t>
            </a:r>
            <a:r>
              <a:rPr lang="pl-PL" dirty="0" err="1"/>
              <a:t>Ear</a:t>
            </a:r>
            <a:r>
              <a:rPr lang="pl-PL" dirty="0"/>
              <a:t> Clip, który w fazie przygotowywania danych dzieli dowolne wielokąty na trójkąty. Trójkąty są z definicji monotoniczne, co gwarantuje poprawność dalszych kroków algorytmu.</a:t>
            </a:r>
          </a:p>
        </p:txBody>
      </p:sp>
      <p:sp>
        <p:nvSpPr>
          <p:cNvPr id="5" name="pole tekstowe 4">
            <a:extLst>
              <a:ext uri="{FF2B5EF4-FFF2-40B4-BE49-F238E27FC236}">
                <a16:creationId xmlns:a16="http://schemas.microsoft.com/office/drawing/2014/main" id="{50624951-6A3A-46B5-349E-DC8106499033}"/>
              </a:ext>
            </a:extLst>
          </p:cNvPr>
          <p:cNvSpPr txBox="1"/>
          <p:nvPr/>
        </p:nvSpPr>
        <p:spPr>
          <a:xfrm>
            <a:off x="3033074" y="3246690"/>
            <a:ext cx="6103856" cy="369332"/>
          </a:xfrm>
          <a:prstGeom prst="rect">
            <a:avLst/>
          </a:prstGeom>
          <a:noFill/>
        </p:spPr>
        <p:txBody>
          <a:bodyPr wrap="square">
            <a:spAutoFit/>
          </a:bodyPr>
          <a:lstStyle/>
          <a:p>
            <a:endParaRPr lang="pl-PL" dirty="0"/>
          </a:p>
        </p:txBody>
      </p:sp>
      <p:sp>
        <p:nvSpPr>
          <p:cNvPr id="8" name="Rectangle 1">
            <a:extLst>
              <a:ext uri="{FF2B5EF4-FFF2-40B4-BE49-F238E27FC236}">
                <a16:creationId xmlns:a16="http://schemas.microsoft.com/office/drawing/2014/main" id="{D2AB049E-2AB7-E32F-C599-375B734C9C1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
        <p:nvSpPr>
          <p:cNvPr id="9" name="Rectangle 2">
            <a:extLst>
              <a:ext uri="{FF2B5EF4-FFF2-40B4-BE49-F238E27FC236}">
                <a16:creationId xmlns:a16="http://schemas.microsoft.com/office/drawing/2014/main" id="{D80D97A3-4BB8-0378-38D2-D8B019CB06AF}"/>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pic>
        <p:nvPicPr>
          <p:cNvPr id="13" name="Obraz 12" descr="Obraz zawierający linia, diagram, origami&#10;&#10;Zawartość wygenerowana przez AI może być niepoprawna.">
            <a:extLst>
              <a:ext uri="{FF2B5EF4-FFF2-40B4-BE49-F238E27FC236}">
                <a16:creationId xmlns:a16="http://schemas.microsoft.com/office/drawing/2014/main" id="{30541C3B-7BF3-F818-5CB0-74F54F995370}"/>
              </a:ext>
            </a:extLst>
          </p:cNvPr>
          <p:cNvPicPr>
            <a:picLocks noChangeAspect="1"/>
          </p:cNvPicPr>
          <p:nvPr/>
        </p:nvPicPr>
        <p:blipFill>
          <a:blip r:embed="rId2"/>
          <a:stretch>
            <a:fillRect/>
          </a:stretch>
        </p:blipFill>
        <p:spPr>
          <a:xfrm>
            <a:off x="8542362" y="2097088"/>
            <a:ext cx="2686425" cy="3639058"/>
          </a:xfrm>
          <a:prstGeom prst="rect">
            <a:avLst/>
          </a:prstGeom>
        </p:spPr>
      </p:pic>
    </p:spTree>
    <p:extLst>
      <p:ext uri="{BB962C8B-B14F-4D97-AF65-F5344CB8AC3E}">
        <p14:creationId xmlns:p14="http://schemas.microsoft.com/office/powerpoint/2010/main" val="3744393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7750C4C-51CF-D89B-C780-5F744BEBF55F}"/>
              </a:ext>
            </a:extLst>
          </p:cNvPr>
          <p:cNvSpPr>
            <a:spLocks noGrp="1"/>
          </p:cNvSpPr>
          <p:nvPr>
            <p:ph type="title"/>
          </p:nvPr>
        </p:nvSpPr>
        <p:spPr/>
        <p:txBody>
          <a:bodyPr/>
          <a:lstStyle/>
          <a:p>
            <a:r>
              <a:rPr lang="pl-PL" dirty="0"/>
              <a:t>Reprezentacja Grafowa</a:t>
            </a:r>
          </a:p>
        </p:txBody>
      </p:sp>
      <p:sp>
        <p:nvSpPr>
          <p:cNvPr id="3" name="Symbol zastępczy zawartości 2">
            <a:extLst>
              <a:ext uri="{FF2B5EF4-FFF2-40B4-BE49-F238E27FC236}">
                <a16:creationId xmlns:a16="http://schemas.microsoft.com/office/drawing/2014/main" id="{F1C350F8-62F5-2A71-3E14-EE8FB4A85420}"/>
              </a:ext>
            </a:extLst>
          </p:cNvPr>
          <p:cNvSpPr>
            <a:spLocks noGrp="1"/>
          </p:cNvSpPr>
          <p:nvPr>
            <p:ph idx="1"/>
          </p:nvPr>
        </p:nvSpPr>
        <p:spPr>
          <a:xfrm>
            <a:off x="1141412" y="2249487"/>
            <a:ext cx="6701689" cy="3541714"/>
          </a:xfrm>
        </p:spPr>
        <p:txBody>
          <a:bodyPr>
            <a:normAutofit fontScale="92500" lnSpcReduction="10000"/>
          </a:bodyPr>
          <a:lstStyle/>
          <a:p>
            <a:pPr marL="0" indent="0">
              <a:buNone/>
            </a:pPr>
            <a:r>
              <a:rPr lang="pl-PL" dirty="0"/>
              <a:t>Podział płaszczyzny reprezentowany jest jako Skierowany Graf Acykliczny. W implementacji wykorzystano klasę </a:t>
            </a:r>
            <a:r>
              <a:rPr lang="pl-PL" dirty="0" err="1"/>
              <a:t>Vertex</a:t>
            </a:r>
            <a:r>
              <a:rPr lang="pl-PL" dirty="0"/>
              <a:t>, przechowującą listy sąsiedztwa każdego punktu. Kluczowym zabiegiem jest posortowanie wierzchołków na płaszczyźnie względem współrzędnej Y oraz skierowanie wszystkich krawędzi w górę. Krawędzie wychodzące z każdego wierzchołka są dodatkowo sortowane kątowo od lewej do prawej, co pozwala na jednoznaczną identyfikację skrajnych ścieżek.</a:t>
            </a:r>
          </a:p>
        </p:txBody>
      </p:sp>
      <p:pic>
        <p:nvPicPr>
          <p:cNvPr id="7" name="Obraz 6" descr="Obraz zawierający statyw, linia&#10;&#10;Zawartość wygenerowana przez AI może być niepoprawna.">
            <a:extLst>
              <a:ext uri="{FF2B5EF4-FFF2-40B4-BE49-F238E27FC236}">
                <a16:creationId xmlns:a16="http://schemas.microsoft.com/office/drawing/2014/main" id="{413A4613-930F-E022-AD7C-E7FB175C6380}"/>
              </a:ext>
            </a:extLst>
          </p:cNvPr>
          <p:cNvPicPr>
            <a:picLocks noChangeAspect="1"/>
          </p:cNvPicPr>
          <p:nvPr/>
        </p:nvPicPr>
        <p:blipFill>
          <a:blip r:embed="rId2"/>
          <a:stretch>
            <a:fillRect/>
          </a:stretch>
        </p:blipFill>
        <p:spPr>
          <a:xfrm>
            <a:off x="8199912" y="2097088"/>
            <a:ext cx="3277057" cy="3496163"/>
          </a:xfrm>
          <a:prstGeom prst="rect">
            <a:avLst/>
          </a:prstGeom>
        </p:spPr>
      </p:pic>
    </p:spTree>
    <p:extLst>
      <p:ext uri="{BB962C8B-B14F-4D97-AF65-F5344CB8AC3E}">
        <p14:creationId xmlns:p14="http://schemas.microsoft.com/office/powerpoint/2010/main" val="1683506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14120FB-8E1B-AC9E-BF3C-83C45B28F5E3}"/>
              </a:ext>
            </a:extLst>
          </p:cNvPr>
          <p:cNvSpPr>
            <a:spLocks noGrp="1"/>
          </p:cNvSpPr>
          <p:nvPr>
            <p:ph type="title"/>
          </p:nvPr>
        </p:nvSpPr>
        <p:spPr/>
        <p:txBody>
          <a:bodyPr/>
          <a:lstStyle/>
          <a:p>
            <a:r>
              <a:rPr lang="pl-PL" dirty="0"/>
              <a:t>Definicja Separatora</a:t>
            </a:r>
          </a:p>
        </p:txBody>
      </p:sp>
      <p:sp>
        <p:nvSpPr>
          <p:cNvPr id="3" name="Symbol zastępczy zawartości 2">
            <a:extLst>
              <a:ext uri="{FF2B5EF4-FFF2-40B4-BE49-F238E27FC236}">
                <a16:creationId xmlns:a16="http://schemas.microsoft.com/office/drawing/2014/main" id="{CA635ED2-C142-6578-677F-206443772C87}"/>
              </a:ext>
            </a:extLst>
          </p:cNvPr>
          <p:cNvSpPr>
            <a:spLocks noGrp="1"/>
          </p:cNvSpPr>
          <p:nvPr>
            <p:ph idx="1"/>
          </p:nvPr>
        </p:nvSpPr>
        <p:spPr>
          <a:xfrm>
            <a:off x="1141412" y="2249487"/>
            <a:ext cx="6013532" cy="3541714"/>
          </a:xfrm>
        </p:spPr>
        <p:txBody>
          <a:bodyPr>
            <a:normAutofit fontScale="85000" lnSpcReduction="10000"/>
          </a:bodyPr>
          <a:lstStyle/>
          <a:p>
            <a:pPr marL="0" indent="0">
              <a:buNone/>
            </a:pPr>
            <a:r>
              <a:rPr lang="pl-PL" dirty="0"/>
              <a:t>Separatorem nazywamy monotoniczny łańcuch krawędzi biegnący od najniższego (źródło) do najwyższego (ujście) wierzchołka grafu. Kluczową własnością separatora jest to, że dzieli on płaszczyznę (lub jej fragment) na dwie rozłączne części: lewą i prawą. Metoda opiera się na pokryciu całego grafu rozłącznymi krawędziowo separatorami, które są uporządkowane względem osi X (od lewej do prawej). Pozwala to na szybkie odrzucanie połowy obszaru poszukiwań w każdym kroku.</a:t>
            </a:r>
          </a:p>
        </p:txBody>
      </p:sp>
      <p:pic>
        <p:nvPicPr>
          <p:cNvPr id="5" name="Obraz 4" descr="Obraz zawierający linia, diagram, Prostokąt, Wykres&#10;&#10;Zawartość wygenerowana przez AI może być niepoprawna.">
            <a:extLst>
              <a:ext uri="{FF2B5EF4-FFF2-40B4-BE49-F238E27FC236}">
                <a16:creationId xmlns:a16="http://schemas.microsoft.com/office/drawing/2014/main" id="{3B9A34DC-A410-57EC-E08C-D2993DDF1E6A}"/>
              </a:ext>
            </a:extLst>
          </p:cNvPr>
          <p:cNvPicPr>
            <a:picLocks noChangeAspect="1"/>
          </p:cNvPicPr>
          <p:nvPr/>
        </p:nvPicPr>
        <p:blipFill>
          <a:blip r:embed="rId2"/>
          <a:stretch>
            <a:fillRect/>
          </a:stretch>
        </p:blipFill>
        <p:spPr>
          <a:xfrm>
            <a:off x="7332320" y="2249487"/>
            <a:ext cx="3631053" cy="2709842"/>
          </a:xfrm>
          <a:prstGeom prst="rect">
            <a:avLst/>
          </a:prstGeom>
        </p:spPr>
      </p:pic>
    </p:spTree>
    <p:extLst>
      <p:ext uri="{BB962C8B-B14F-4D97-AF65-F5344CB8AC3E}">
        <p14:creationId xmlns:p14="http://schemas.microsoft.com/office/powerpoint/2010/main" val="2821519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3792D08-F264-B2B5-EA6A-BA59EF39593A}"/>
              </a:ext>
            </a:extLst>
          </p:cNvPr>
          <p:cNvSpPr>
            <a:spLocks noGrp="1"/>
          </p:cNvSpPr>
          <p:nvPr>
            <p:ph type="title"/>
          </p:nvPr>
        </p:nvSpPr>
        <p:spPr/>
        <p:txBody>
          <a:bodyPr/>
          <a:lstStyle/>
          <a:p>
            <a:r>
              <a:rPr lang="pl-PL" dirty="0"/>
              <a:t>Wyznaczanie Wag – Idea przepływu</a:t>
            </a:r>
          </a:p>
        </p:txBody>
      </p:sp>
      <p:sp>
        <p:nvSpPr>
          <p:cNvPr id="3" name="Symbol zastępczy zawartości 2">
            <a:extLst>
              <a:ext uri="{FF2B5EF4-FFF2-40B4-BE49-F238E27FC236}">
                <a16:creationId xmlns:a16="http://schemas.microsoft.com/office/drawing/2014/main" id="{EB40073D-24AE-3327-8BE8-F7B529052DC2}"/>
              </a:ext>
            </a:extLst>
          </p:cNvPr>
          <p:cNvSpPr>
            <a:spLocks noGrp="1"/>
          </p:cNvSpPr>
          <p:nvPr>
            <p:ph idx="1"/>
          </p:nvPr>
        </p:nvSpPr>
        <p:spPr/>
        <p:txBody>
          <a:bodyPr/>
          <a:lstStyle/>
          <a:p>
            <a:pPr marL="0" indent="0">
              <a:buNone/>
            </a:pPr>
            <a:r>
              <a:rPr lang="pl-PL" dirty="0"/>
              <a:t>Aby podzielić graf na separatory, należy ustalić przepustowość krawędzi. Implementacja wykorzystuje funkcję </a:t>
            </a:r>
            <a:r>
              <a:rPr lang="pl-PL" dirty="0" err="1"/>
              <a:t>compute_planar_weights</a:t>
            </a:r>
            <a:r>
              <a:rPr lang="pl-PL" dirty="0"/>
              <a:t>, która traktuje graf jak sieć przepływową. Celem jest przypisanie każdej krawędzi wagi, która informuje, ile separatorów będzie przez nią przechodzić. Suma wag krawędzi wychodzących ze źródła determinuje całkowitą liczbę separatorów w strukturze.</a:t>
            </a:r>
          </a:p>
        </p:txBody>
      </p:sp>
    </p:spTree>
    <p:extLst>
      <p:ext uri="{BB962C8B-B14F-4D97-AF65-F5344CB8AC3E}">
        <p14:creationId xmlns:p14="http://schemas.microsoft.com/office/powerpoint/2010/main" val="1181110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9E56AC0-DCF7-01DE-018D-BA8383DEFBC4}"/>
              </a:ext>
            </a:extLst>
          </p:cNvPr>
          <p:cNvSpPr>
            <a:spLocks noGrp="1"/>
          </p:cNvSpPr>
          <p:nvPr>
            <p:ph type="title"/>
          </p:nvPr>
        </p:nvSpPr>
        <p:spPr/>
        <p:txBody>
          <a:bodyPr/>
          <a:lstStyle/>
          <a:p>
            <a:r>
              <a:rPr lang="pl-PL" dirty="0"/>
              <a:t>Wyznaczanie Wag – Realizacja Dwuprzebiegowa</a:t>
            </a:r>
          </a:p>
        </p:txBody>
      </p:sp>
      <p:sp>
        <p:nvSpPr>
          <p:cNvPr id="5" name="Rectangle 2">
            <a:extLst>
              <a:ext uri="{FF2B5EF4-FFF2-40B4-BE49-F238E27FC236}">
                <a16:creationId xmlns:a16="http://schemas.microsoft.com/office/drawing/2014/main" id="{2F839CA2-812D-9A8E-979F-C9258113798D}"/>
              </a:ext>
            </a:extLst>
          </p:cNvPr>
          <p:cNvSpPr>
            <a:spLocks noGrp="1" noChangeArrowheads="1"/>
          </p:cNvSpPr>
          <p:nvPr>
            <p:ph idx="1"/>
          </p:nvPr>
        </p:nvSpPr>
        <p:spPr bwMode="auto">
          <a:xfrm>
            <a:off x="1141413" y="2184720"/>
            <a:ext cx="10038777"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l-PL" altLang="pl-PL" b="0" i="0" u="none" strike="noStrike" cap="none" normalizeH="0" baseline="0" dirty="0">
                <a:ln>
                  <a:noFill/>
                </a:ln>
                <a:solidFill>
                  <a:schemeClr val="tx1"/>
                </a:solidFill>
                <a:effectLst/>
              </a:rPr>
              <a:t>Algorytm obliczania wag składa się z dwóch faz.</a:t>
            </a:r>
          </a:p>
          <a:p>
            <a:pPr marL="0" marR="0" lvl="0" indent="0" algn="l" defTabSz="914400" rtl="0" eaLnBrk="0" fontAlgn="base" latinLnBrk="0" hangingPunct="0">
              <a:lnSpc>
                <a:spcPct val="100000"/>
              </a:lnSpc>
              <a:spcBef>
                <a:spcPct val="0"/>
              </a:spcBef>
              <a:spcAft>
                <a:spcPct val="0"/>
              </a:spcAft>
              <a:buClrTx/>
              <a:buSzTx/>
              <a:buFontTx/>
              <a:buNone/>
              <a:tabLst/>
            </a:pPr>
            <a:endParaRPr lang="pl-PL" altLang="pl-PL" dirty="0"/>
          </a:p>
          <a:p>
            <a:pPr marL="0" marR="0" lvl="0" indent="0" algn="l" defTabSz="914400" rtl="0" eaLnBrk="0" fontAlgn="base" latinLnBrk="0" hangingPunct="0">
              <a:lnSpc>
                <a:spcPct val="100000"/>
              </a:lnSpc>
              <a:spcBef>
                <a:spcPct val="0"/>
              </a:spcBef>
              <a:spcAft>
                <a:spcPct val="0"/>
              </a:spcAft>
              <a:buClrTx/>
              <a:buSzTx/>
              <a:buFontTx/>
              <a:buNone/>
              <a:tabLst/>
            </a:pPr>
            <a:r>
              <a:rPr kumimoji="0" lang="pl-PL" altLang="pl-PL" b="0" i="0" u="none" strike="noStrike" cap="none" normalizeH="0" baseline="0" dirty="0">
                <a:ln>
                  <a:noFill/>
                </a:ln>
                <a:solidFill>
                  <a:schemeClr val="tx1"/>
                </a:solidFill>
                <a:effectLst/>
              </a:rPr>
              <a:t>W fazie przejścia </a:t>
            </a:r>
            <a:r>
              <a:rPr kumimoji="0" lang="pl-PL" altLang="pl-PL" b="1" i="0" u="none" strike="noStrike" cap="none" normalizeH="0" baseline="0" dirty="0">
                <a:ln>
                  <a:noFill/>
                </a:ln>
                <a:solidFill>
                  <a:schemeClr val="tx1"/>
                </a:solidFill>
                <a:effectLst/>
              </a:rPr>
              <a:t>dół - góra </a:t>
            </a:r>
            <a:r>
              <a:rPr kumimoji="0" lang="pl-PL" altLang="pl-PL" b="0" i="0" u="none" strike="noStrike" cap="none" normalizeH="0" baseline="0" dirty="0">
                <a:ln>
                  <a:noFill/>
                </a:ln>
                <a:solidFill>
                  <a:schemeClr val="tx1"/>
                </a:solidFill>
                <a:effectLst/>
              </a:rPr>
              <a:t>wagi są propagowane w górę, sumując wpływy z krawędzi wejściowych. Jeśli wierzchołek ma więcej wpływu niż wypływu, nadmiar kierowany jest na jego skrajną lewą krawędź wyjściową.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l-PL" altLang="pl-PL"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l-PL" altLang="pl-PL" b="0" i="0" u="none" strike="noStrike" cap="none" normalizeH="0" baseline="0" dirty="0">
                <a:ln>
                  <a:noFill/>
                </a:ln>
                <a:solidFill>
                  <a:schemeClr val="tx1"/>
                </a:solidFill>
                <a:effectLst/>
              </a:rPr>
              <a:t>W fazie przejścia </a:t>
            </a:r>
            <a:r>
              <a:rPr kumimoji="0" lang="pl-PL" altLang="pl-PL" b="1" i="0" u="none" strike="noStrike" cap="none" normalizeH="0" baseline="0" dirty="0">
                <a:ln>
                  <a:noFill/>
                </a:ln>
                <a:solidFill>
                  <a:schemeClr val="tx1"/>
                </a:solidFill>
                <a:effectLst/>
              </a:rPr>
              <a:t>góra - dół </a:t>
            </a:r>
            <a:r>
              <a:rPr kumimoji="0" lang="pl-PL" altLang="pl-PL" b="0" i="0" u="none" strike="noStrike" cap="none" normalizeH="0" baseline="0" dirty="0">
                <a:ln>
                  <a:noFill/>
                </a:ln>
                <a:solidFill>
                  <a:schemeClr val="tx1"/>
                </a:solidFill>
                <a:effectLst/>
              </a:rPr>
              <a:t>następuje korekta – brakujący przepływ jest uzupełniany, co gwarantuje spójność bilansu przepływu w każdym węźle grafu.</a:t>
            </a:r>
          </a:p>
        </p:txBody>
      </p:sp>
    </p:spTree>
    <p:extLst>
      <p:ext uri="{BB962C8B-B14F-4D97-AF65-F5344CB8AC3E}">
        <p14:creationId xmlns:p14="http://schemas.microsoft.com/office/powerpoint/2010/main" val="3383717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888348A-349A-190E-CE20-816E900DAB06}"/>
              </a:ext>
            </a:extLst>
          </p:cNvPr>
          <p:cNvSpPr>
            <a:spLocks noGrp="1"/>
          </p:cNvSpPr>
          <p:nvPr>
            <p:ph type="title"/>
          </p:nvPr>
        </p:nvSpPr>
        <p:spPr/>
        <p:txBody>
          <a:bodyPr/>
          <a:lstStyle/>
          <a:p>
            <a:r>
              <a:rPr lang="pl-PL" dirty="0"/>
              <a:t>Algorytm Generowania Łańcuchów (Separatorów)</a:t>
            </a:r>
          </a:p>
        </p:txBody>
      </p:sp>
      <p:sp>
        <p:nvSpPr>
          <p:cNvPr id="3" name="Symbol zastępczy zawartości 2">
            <a:extLst>
              <a:ext uri="{FF2B5EF4-FFF2-40B4-BE49-F238E27FC236}">
                <a16:creationId xmlns:a16="http://schemas.microsoft.com/office/drawing/2014/main" id="{B13681DA-CA30-5887-526E-F18D41747CA2}"/>
              </a:ext>
            </a:extLst>
          </p:cNvPr>
          <p:cNvSpPr>
            <a:spLocks noGrp="1"/>
          </p:cNvSpPr>
          <p:nvPr>
            <p:ph idx="1"/>
          </p:nvPr>
        </p:nvSpPr>
        <p:spPr/>
        <p:txBody>
          <a:bodyPr/>
          <a:lstStyle/>
          <a:p>
            <a:pPr marL="0" indent="0">
              <a:buNone/>
            </a:pPr>
            <a:r>
              <a:rPr lang="pl-PL" dirty="0"/>
              <a:t>Mając wyznaczone wagi, funkcja </a:t>
            </a:r>
            <a:r>
              <a:rPr lang="pl-PL" dirty="0" err="1"/>
              <a:t>generate_monotone_chains</a:t>
            </a:r>
            <a:r>
              <a:rPr lang="pl-PL" dirty="0"/>
              <a:t> wyodrębnia poszczególne separatory. Zastosowano podejście zachłanne: startując od źródła, algorytm zawsze wybiera skrajnie prawą krawędź posiadającą dodatnią wagę. Po przejściu przez krawędź jej waga jest dekrementowana Proces ten powtarza się, aż wszystkie wagi zostaną wyzerowane, a graf zostanie całkowicie pokryty rozłącznymi krawędziowo łańcuchami.</a:t>
            </a:r>
          </a:p>
        </p:txBody>
      </p:sp>
    </p:spTree>
    <p:extLst>
      <p:ext uri="{BB962C8B-B14F-4D97-AF65-F5344CB8AC3E}">
        <p14:creationId xmlns:p14="http://schemas.microsoft.com/office/powerpoint/2010/main" val="3373861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CB81E3A-53F3-F950-66EC-B2683836234C}"/>
              </a:ext>
            </a:extLst>
          </p:cNvPr>
          <p:cNvSpPr>
            <a:spLocks noGrp="1"/>
          </p:cNvSpPr>
          <p:nvPr>
            <p:ph type="title"/>
          </p:nvPr>
        </p:nvSpPr>
        <p:spPr/>
        <p:txBody>
          <a:bodyPr/>
          <a:lstStyle/>
          <a:p>
            <a:r>
              <a:rPr lang="pl-PL" dirty="0"/>
              <a:t>Konstrukcja Regionów</a:t>
            </a:r>
          </a:p>
        </p:txBody>
      </p:sp>
      <p:pic>
        <p:nvPicPr>
          <p:cNvPr id="5" name="Obraz 4">
            <a:extLst>
              <a:ext uri="{FF2B5EF4-FFF2-40B4-BE49-F238E27FC236}">
                <a16:creationId xmlns:a16="http://schemas.microsoft.com/office/drawing/2014/main" id="{45A2F21B-B6B1-ABE5-3C5C-3ECFDF3C8875}"/>
              </a:ext>
            </a:extLst>
          </p:cNvPr>
          <p:cNvPicPr>
            <a:picLocks noChangeAspect="1"/>
          </p:cNvPicPr>
          <p:nvPr/>
        </p:nvPicPr>
        <p:blipFill>
          <a:blip r:embed="rId2"/>
          <a:stretch>
            <a:fillRect/>
          </a:stretch>
        </p:blipFill>
        <p:spPr>
          <a:xfrm>
            <a:off x="8061141" y="618518"/>
            <a:ext cx="3829584" cy="2905530"/>
          </a:xfrm>
          <a:prstGeom prst="rect">
            <a:avLst/>
          </a:prstGeom>
        </p:spPr>
      </p:pic>
      <p:pic>
        <p:nvPicPr>
          <p:cNvPr id="6" name="Obraz 5" descr="Obraz zawierający linia, diagram, design&#10;&#10;Zawartość wygenerowana przez AI może być niepoprawna.">
            <a:extLst>
              <a:ext uri="{FF2B5EF4-FFF2-40B4-BE49-F238E27FC236}">
                <a16:creationId xmlns:a16="http://schemas.microsoft.com/office/drawing/2014/main" id="{F4333F64-0350-E653-3D06-104D3C1C165A}"/>
              </a:ext>
            </a:extLst>
          </p:cNvPr>
          <p:cNvPicPr>
            <a:picLocks noChangeAspect="1"/>
          </p:cNvPicPr>
          <p:nvPr/>
        </p:nvPicPr>
        <p:blipFill>
          <a:blip r:embed="rId3"/>
          <a:stretch>
            <a:fillRect/>
          </a:stretch>
        </p:blipFill>
        <p:spPr>
          <a:xfrm>
            <a:off x="8061141" y="3703157"/>
            <a:ext cx="3850775" cy="2892919"/>
          </a:xfrm>
          <a:prstGeom prst="rect">
            <a:avLst/>
          </a:prstGeom>
        </p:spPr>
      </p:pic>
      <p:sp>
        <p:nvSpPr>
          <p:cNvPr id="9" name="Rectangle 3">
            <a:extLst>
              <a:ext uri="{FF2B5EF4-FFF2-40B4-BE49-F238E27FC236}">
                <a16:creationId xmlns:a16="http://schemas.microsoft.com/office/drawing/2014/main" id="{39F005DC-1397-31F8-72B6-45DD3303E4D2}"/>
              </a:ext>
            </a:extLst>
          </p:cNvPr>
          <p:cNvSpPr>
            <a:spLocks noGrp="1" noChangeArrowheads="1"/>
          </p:cNvSpPr>
          <p:nvPr>
            <p:ph idx="1"/>
          </p:nvPr>
        </p:nvSpPr>
        <p:spPr bwMode="auto">
          <a:xfrm>
            <a:off x="1141413" y="1748595"/>
            <a:ext cx="6476216" cy="4847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l-PL" altLang="pl-PL" b="0" i="0" u="none" strike="noStrike" cap="none" normalizeH="0" baseline="0" dirty="0">
                <a:ln>
                  <a:noFill/>
                </a:ln>
                <a:solidFill>
                  <a:schemeClr val="tx1"/>
                </a:solidFill>
                <a:effectLst/>
              </a:rPr>
              <a:t>Kolejnym elementem implementacji jest funkcja </a:t>
            </a:r>
            <a:r>
              <a:rPr kumimoji="0" lang="pl-PL" altLang="pl-PL" b="0" i="0" u="none" strike="noStrike" cap="none" normalizeH="0" baseline="0" dirty="0" err="1">
                <a:ln>
                  <a:noFill/>
                </a:ln>
                <a:solidFill>
                  <a:schemeClr val="tx1"/>
                </a:solidFill>
                <a:effectLst/>
              </a:rPr>
              <a:t>precompute_regions</a:t>
            </a:r>
            <a:r>
              <a:rPr kumimoji="0" lang="pl-PL" altLang="pl-PL" b="0" i="0" u="none" strike="noStrike" cap="none" normalizeH="0" baseline="0" dirty="0">
                <a:ln>
                  <a:noFill/>
                </a:ln>
                <a:solidFill>
                  <a:schemeClr val="tx1"/>
                </a:solidFill>
                <a:effectLst/>
              </a:rPr>
              <a:t>, uruchamiana jednorazowo w fazie przygotowywania danych, tuż po wygenerowaniu łańcuchów monotonicznych. Algorytm ten iteruje po wszystkich parach sąsiednich separatorów, identyfikując miejsca ich rozwidlania i ponownego łączenia, co pozwala na precyzyjne wyodrębnienie zamkniętych obszarów geometrycznych. Zidentyfikowane obszary trafiają do struktury słownikowej </a:t>
            </a:r>
            <a:r>
              <a:rPr kumimoji="0" lang="pl-PL" altLang="pl-PL" b="0" i="0" u="none" strike="noStrike" cap="none" normalizeH="0" baseline="0" dirty="0" err="1">
                <a:ln>
                  <a:noFill/>
                </a:ln>
                <a:solidFill>
                  <a:schemeClr val="tx1"/>
                </a:solidFill>
                <a:effectLst/>
              </a:rPr>
              <a:t>region_map</a:t>
            </a:r>
            <a:r>
              <a:rPr kumimoji="0" lang="pl-PL" altLang="pl-PL" b="0" i="0" u="none" strike="noStrike" cap="none" normalizeH="0" baseline="0" dirty="0">
                <a:ln>
                  <a:noFill/>
                </a:ln>
                <a:solidFill>
                  <a:schemeClr val="tx1"/>
                </a:solidFill>
                <a:effectLst/>
              </a:rPr>
              <a:t>, gdzie dla każdej pary separatorów przechowywana jest lista wielokątów, posortowana rosnąco według współrzędnej Y.</a:t>
            </a:r>
          </a:p>
        </p:txBody>
      </p:sp>
    </p:spTree>
    <p:extLst>
      <p:ext uri="{BB962C8B-B14F-4D97-AF65-F5344CB8AC3E}">
        <p14:creationId xmlns:p14="http://schemas.microsoft.com/office/powerpoint/2010/main" val="3689644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0932538-7AAD-D427-0B4E-B8B38CAF5412}"/>
              </a:ext>
            </a:extLst>
          </p:cNvPr>
          <p:cNvSpPr>
            <a:spLocks noGrp="1"/>
          </p:cNvSpPr>
          <p:nvPr>
            <p:ph type="title"/>
          </p:nvPr>
        </p:nvSpPr>
        <p:spPr/>
        <p:txBody>
          <a:bodyPr/>
          <a:lstStyle/>
          <a:p>
            <a:r>
              <a:rPr lang="pl-PL" dirty="0"/>
              <a:t>Budowa Drzewa Poszukiwań</a:t>
            </a:r>
          </a:p>
        </p:txBody>
      </p:sp>
      <p:sp>
        <p:nvSpPr>
          <p:cNvPr id="3" name="Symbol zastępczy zawartości 2">
            <a:extLst>
              <a:ext uri="{FF2B5EF4-FFF2-40B4-BE49-F238E27FC236}">
                <a16:creationId xmlns:a16="http://schemas.microsoft.com/office/drawing/2014/main" id="{E76C3BFE-8341-5AC8-D4C0-8C3C29613923}"/>
              </a:ext>
            </a:extLst>
          </p:cNvPr>
          <p:cNvSpPr>
            <a:spLocks noGrp="1"/>
          </p:cNvSpPr>
          <p:nvPr>
            <p:ph idx="1"/>
          </p:nvPr>
        </p:nvSpPr>
        <p:spPr>
          <a:xfrm>
            <a:off x="1141413" y="2097088"/>
            <a:ext cx="9905999" cy="3541714"/>
          </a:xfrm>
        </p:spPr>
        <p:txBody>
          <a:bodyPr/>
          <a:lstStyle/>
          <a:p>
            <a:pPr marL="0" indent="0">
              <a:buNone/>
            </a:pPr>
            <a:r>
              <a:rPr lang="pl-PL" dirty="0"/>
              <a:t>Wygenerowane łańcuchy są organizowane w hierarchiczną strukturę danych – drzewo </a:t>
            </a:r>
            <a:r>
              <a:rPr lang="pl-PL" dirty="0" err="1"/>
              <a:t>SearchTreeNode</a:t>
            </a:r>
            <a:r>
              <a:rPr lang="pl-PL" dirty="0"/>
              <a:t>. Aby zapewnić logarytmiczny czas wyszukiwania, drzewo jest zbalansowane. </a:t>
            </a:r>
          </a:p>
          <a:p>
            <a:pPr marL="0" indent="0">
              <a:buNone/>
            </a:pPr>
            <a:r>
              <a:rPr lang="pl-PL" dirty="0"/>
              <a:t>Jako korzeń drzewa wybierany jest separator środkowy (mediana zbioru). Łańcuchy leżące geometrycznie na lewo od mediany tworzą lewe poddrzewo, a te na prawo – prawe poddrzewo.</a:t>
            </a:r>
          </a:p>
          <a:p>
            <a:pPr marL="0" indent="0">
              <a:buNone/>
            </a:pPr>
            <a:endParaRPr lang="pl-PL" dirty="0"/>
          </a:p>
        </p:txBody>
      </p:sp>
    </p:spTree>
    <p:extLst>
      <p:ext uri="{BB962C8B-B14F-4D97-AF65-F5344CB8AC3E}">
        <p14:creationId xmlns:p14="http://schemas.microsoft.com/office/powerpoint/2010/main" val="336747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D226454-3A22-D77A-0FB9-3DBD356A7EB3}"/>
              </a:ext>
            </a:extLst>
          </p:cNvPr>
          <p:cNvSpPr>
            <a:spLocks noGrp="1"/>
          </p:cNvSpPr>
          <p:nvPr>
            <p:ph type="title"/>
          </p:nvPr>
        </p:nvSpPr>
        <p:spPr/>
        <p:txBody>
          <a:bodyPr/>
          <a:lstStyle/>
          <a:p>
            <a:r>
              <a:rPr lang="pl-PL" dirty="0"/>
              <a:t>Wizualizacja </a:t>
            </a:r>
            <a:r>
              <a:rPr lang="pl-PL" dirty="0" err="1"/>
              <a:t>DrzewA</a:t>
            </a:r>
            <a:r>
              <a:rPr lang="pl-PL" dirty="0"/>
              <a:t> poszukiwań</a:t>
            </a:r>
          </a:p>
        </p:txBody>
      </p:sp>
      <p:pic>
        <p:nvPicPr>
          <p:cNvPr id="5" name="Obraz 4" descr="Obraz zawierający diagram, linia, Wykres, Czcionka&#10;&#10;Zawartość wygenerowana przez AI może być niepoprawna.">
            <a:extLst>
              <a:ext uri="{FF2B5EF4-FFF2-40B4-BE49-F238E27FC236}">
                <a16:creationId xmlns:a16="http://schemas.microsoft.com/office/drawing/2014/main" id="{0C12EE33-51AF-CDC2-53AE-51C945A40928}"/>
              </a:ext>
            </a:extLst>
          </p:cNvPr>
          <p:cNvPicPr>
            <a:picLocks noChangeAspect="1"/>
          </p:cNvPicPr>
          <p:nvPr/>
        </p:nvPicPr>
        <p:blipFill>
          <a:blip r:embed="rId2"/>
          <a:stretch>
            <a:fillRect/>
          </a:stretch>
        </p:blipFill>
        <p:spPr>
          <a:xfrm>
            <a:off x="650440" y="2097088"/>
            <a:ext cx="5373287" cy="3565692"/>
          </a:xfrm>
          <a:prstGeom prst="rect">
            <a:avLst/>
          </a:prstGeom>
        </p:spPr>
      </p:pic>
      <p:pic>
        <p:nvPicPr>
          <p:cNvPr id="4" name="Obraz 3" descr="Obraz zawierający linia, diagram, Wykres, Równolegle&#10;&#10;Zawartość wygenerowana przez AI może być niepoprawna.">
            <a:extLst>
              <a:ext uri="{FF2B5EF4-FFF2-40B4-BE49-F238E27FC236}">
                <a16:creationId xmlns:a16="http://schemas.microsoft.com/office/drawing/2014/main" id="{BC1137FE-7E72-1021-B874-FBECF5EA4299}"/>
              </a:ext>
            </a:extLst>
          </p:cNvPr>
          <p:cNvPicPr>
            <a:picLocks noChangeAspect="1"/>
          </p:cNvPicPr>
          <p:nvPr/>
        </p:nvPicPr>
        <p:blipFill>
          <a:blip r:embed="rId3"/>
          <a:stretch>
            <a:fillRect/>
          </a:stretch>
        </p:blipFill>
        <p:spPr>
          <a:xfrm>
            <a:off x="6284246" y="2094243"/>
            <a:ext cx="4763165" cy="3562847"/>
          </a:xfrm>
          <a:prstGeom prst="rect">
            <a:avLst/>
          </a:prstGeom>
        </p:spPr>
      </p:pic>
    </p:spTree>
    <p:extLst>
      <p:ext uri="{BB962C8B-B14F-4D97-AF65-F5344CB8AC3E}">
        <p14:creationId xmlns:p14="http://schemas.microsoft.com/office/powerpoint/2010/main" val="732659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DE6F26B-9477-6D74-010A-57FD79BD3EC0}"/>
              </a:ext>
            </a:extLst>
          </p:cNvPr>
          <p:cNvSpPr>
            <a:spLocks noGrp="1"/>
          </p:cNvSpPr>
          <p:nvPr>
            <p:ph type="title"/>
          </p:nvPr>
        </p:nvSpPr>
        <p:spPr/>
        <p:txBody>
          <a:bodyPr/>
          <a:lstStyle/>
          <a:p>
            <a:r>
              <a:rPr lang="pl-PL" dirty="0"/>
              <a:t>Algorytm Zapytania – Teoria</a:t>
            </a:r>
          </a:p>
        </p:txBody>
      </p:sp>
      <p:sp>
        <p:nvSpPr>
          <p:cNvPr id="4" name="Rectangle 1">
            <a:extLst>
              <a:ext uri="{FF2B5EF4-FFF2-40B4-BE49-F238E27FC236}">
                <a16:creationId xmlns:a16="http://schemas.microsoft.com/office/drawing/2014/main" id="{01EB7579-B7FF-8D80-E611-2D6FC8B3EBFC}"/>
              </a:ext>
            </a:extLst>
          </p:cNvPr>
          <p:cNvSpPr>
            <a:spLocks noGrp="1" noChangeArrowheads="1"/>
          </p:cNvSpPr>
          <p:nvPr>
            <p:ph idx="1"/>
          </p:nvPr>
        </p:nvSpPr>
        <p:spPr bwMode="auto">
          <a:xfrm flipH="1">
            <a:off x="1141413" y="2213930"/>
            <a:ext cx="8970800"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SzTx/>
              <a:buNone/>
            </a:pPr>
            <a:r>
              <a:rPr kumimoji="0" lang="pl-PL" altLang="pl-PL" b="0" i="0" u="none" strike="noStrike" cap="none" normalizeH="0" baseline="0" dirty="0">
                <a:ln>
                  <a:noFill/>
                </a:ln>
                <a:solidFill>
                  <a:schemeClr val="tx1"/>
                </a:solidFill>
                <a:effectLst/>
              </a:rPr>
              <a:t>Lokalizacja punktu p polega na zejściu w dół drzewa BST, począwszy od korzenia. W każdym węźle (reprezentującym separator) podejmowana jest decyzja binarna: czy punkt znajduje się na lewo, czy na prawo od tego łańcucha? Decyzja ta determinuje wybór kolejnego dziecka (lewego lub prawego) i zawęża obszar poszukiwań o połowę. Po wyznaczeniu dwóch separatorów po między którymi znajduje się punkt, </a:t>
            </a:r>
            <a:r>
              <a:rPr lang="pl-PL" altLang="pl-PL" dirty="0"/>
              <a:t>a</a:t>
            </a:r>
            <a:r>
              <a:rPr kumimoji="0" lang="pl-PL" altLang="pl-PL" b="0" i="0" u="none" strike="noStrike" cap="none" normalizeH="0" baseline="0" dirty="0">
                <a:ln>
                  <a:noFill/>
                </a:ln>
                <a:solidFill>
                  <a:schemeClr val="tx1"/>
                </a:solidFill>
                <a:effectLst/>
              </a:rPr>
              <a:t>lgorytm wyznacza region go zawierający. </a:t>
            </a:r>
            <a:r>
              <a:rPr lang="pl-PL" altLang="pl-PL" dirty="0"/>
              <a:t>Złożoność czasowa zapytania wynosi O(</a:t>
            </a:r>
            <a:r>
              <a:rPr lang="pl-PL" dirty="0"/>
              <a:t>log² N + log N</a:t>
            </a:r>
            <a:r>
              <a:rPr lang="pl-PL" altLang="pl-PL" dirty="0"/>
              <a:t>)</a:t>
            </a:r>
            <a:endParaRPr kumimoji="0" lang="pl-PL" altLang="pl-PL"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90858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61E86DE-2B5C-EEFE-C10E-39B04D517566}"/>
              </a:ext>
            </a:extLst>
          </p:cNvPr>
          <p:cNvSpPr>
            <a:spLocks noGrp="1"/>
          </p:cNvSpPr>
          <p:nvPr>
            <p:ph type="title"/>
          </p:nvPr>
        </p:nvSpPr>
        <p:spPr/>
        <p:txBody>
          <a:bodyPr/>
          <a:lstStyle/>
          <a:p>
            <a:r>
              <a:rPr lang="pl-PL" dirty="0"/>
              <a:t>Algorytm Zapytania – </a:t>
            </a:r>
            <a:r>
              <a:rPr lang="pl-PL" dirty="0" err="1"/>
              <a:t>IMplementacja</a:t>
            </a:r>
            <a:endParaRPr lang="pl-PL" dirty="0"/>
          </a:p>
        </p:txBody>
      </p:sp>
      <p:sp>
        <p:nvSpPr>
          <p:cNvPr id="3" name="Symbol zastępczy zawartości 2">
            <a:extLst>
              <a:ext uri="{FF2B5EF4-FFF2-40B4-BE49-F238E27FC236}">
                <a16:creationId xmlns:a16="http://schemas.microsoft.com/office/drawing/2014/main" id="{87C815C6-9F91-9ECE-B32D-E8A6BFA0F829}"/>
              </a:ext>
            </a:extLst>
          </p:cNvPr>
          <p:cNvSpPr>
            <a:spLocks noGrp="1"/>
          </p:cNvSpPr>
          <p:nvPr>
            <p:ph idx="1"/>
          </p:nvPr>
        </p:nvSpPr>
        <p:spPr>
          <a:xfrm>
            <a:off x="1141412" y="1976110"/>
            <a:ext cx="6220921" cy="3541714"/>
          </a:xfrm>
        </p:spPr>
        <p:txBody>
          <a:bodyPr>
            <a:noAutofit/>
          </a:bodyPr>
          <a:lstStyle/>
          <a:p>
            <a:pPr marL="0" indent="0">
              <a:buNone/>
            </a:pPr>
            <a:r>
              <a:rPr lang="pl-PL" dirty="0"/>
              <a:t>W każdym odwiedzanym węźle (separatorze) wykonywany jest test: "czy punkt p leży na lewo, czy na prawo od tego łańcucha?". Test ten realizowany jest dwuetapowo: najpierw za pomocą wyszukiwania binarnego znajdowany jest segment separatora o współrzędnych Y końców między którymi znajduje się punkt, a następnie obliczany jest iloczyn wektorowy w celu określenia relacji lewo/prawo na podstawie której algorytm schodzi w dół drzewa</a:t>
            </a:r>
          </a:p>
        </p:txBody>
      </p:sp>
      <p:pic>
        <p:nvPicPr>
          <p:cNvPr id="5" name="Obraz 4" descr="Obraz zawierający linia, diagram, tekst, Wykres&#10;&#10;Zawartość wygenerowana przez AI może być niepoprawna.">
            <a:extLst>
              <a:ext uri="{FF2B5EF4-FFF2-40B4-BE49-F238E27FC236}">
                <a16:creationId xmlns:a16="http://schemas.microsoft.com/office/drawing/2014/main" id="{B264F892-1125-F190-F433-0ACD5DCAF61B}"/>
              </a:ext>
            </a:extLst>
          </p:cNvPr>
          <p:cNvPicPr>
            <a:picLocks noChangeAspect="1"/>
          </p:cNvPicPr>
          <p:nvPr/>
        </p:nvPicPr>
        <p:blipFill>
          <a:blip r:embed="rId2"/>
          <a:stretch>
            <a:fillRect/>
          </a:stretch>
        </p:blipFill>
        <p:spPr>
          <a:xfrm>
            <a:off x="7650954" y="2097088"/>
            <a:ext cx="3990346" cy="2986152"/>
          </a:xfrm>
          <a:prstGeom prst="rect">
            <a:avLst/>
          </a:prstGeom>
        </p:spPr>
      </p:pic>
    </p:spTree>
    <p:extLst>
      <p:ext uri="{BB962C8B-B14F-4D97-AF65-F5344CB8AC3E}">
        <p14:creationId xmlns:p14="http://schemas.microsoft.com/office/powerpoint/2010/main" val="1397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6B5E947-2CFE-825C-0FD6-4F8A4CC15074}"/>
              </a:ext>
            </a:extLst>
          </p:cNvPr>
          <p:cNvSpPr>
            <a:spLocks noGrp="1"/>
          </p:cNvSpPr>
          <p:nvPr>
            <p:ph type="title"/>
          </p:nvPr>
        </p:nvSpPr>
        <p:spPr/>
        <p:txBody>
          <a:bodyPr/>
          <a:lstStyle/>
          <a:p>
            <a:r>
              <a:rPr lang="pl-PL" dirty="0"/>
              <a:t>Konstrukcja Wyniku</a:t>
            </a:r>
          </a:p>
        </p:txBody>
      </p:sp>
      <p:sp>
        <p:nvSpPr>
          <p:cNvPr id="4" name="Rectangle 1">
            <a:extLst>
              <a:ext uri="{FF2B5EF4-FFF2-40B4-BE49-F238E27FC236}">
                <a16:creationId xmlns:a16="http://schemas.microsoft.com/office/drawing/2014/main" id="{538FDE86-45F0-1698-F605-14EF1F73A6F3}"/>
              </a:ext>
            </a:extLst>
          </p:cNvPr>
          <p:cNvSpPr>
            <a:spLocks noGrp="1" noChangeArrowheads="1"/>
          </p:cNvSpPr>
          <p:nvPr>
            <p:ph idx="1"/>
          </p:nvPr>
        </p:nvSpPr>
        <p:spPr bwMode="auto">
          <a:xfrm>
            <a:off x="1141413" y="2434283"/>
            <a:ext cx="5777861"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l-PL" altLang="pl-PL" b="0" i="0" u="none" strike="noStrike" cap="none" normalizeH="0" baseline="0" dirty="0">
                <a:ln>
                  <a:noFill/>
                </a:ln>
                <a:solidFill>
                  <a:schemeClr val="tx1"/>
                </a:solidFill>
                <a:effectLst/>
                <a:cs typeface="Arial" panose="020B0604020202020204" pitchFamily="34" charset="0"/>
              </a:rPr>
              <a:t>W finalnym kroku algorytm dysponuje dwoma separatorami: najbliższym z lewej oraz najbliższym z prawej. </a:t>
            </a:r>
            <a:r>
              <a:rPr lang="pl-PL" altLang="pl-PL" dirty="0">
                <a:cs typeface="Arial" panose="020B0604020202020204" pitchFamily="34" charset="0"/>
              </a:rPr>
              <a:t>Algorytm korzysta ze słownika regionów i za pomocą wyszukiwania binarnego określa obszar w którym zawiera się punkt</a:t>
            </a:r>
            <a:r>
              <a:rPr kumimoji="0" lang="pl-PL" altLang="pl-PL" b="0" i="0" u="none" strike="noStrike" cap="none" normalizeH="0" baseline="0" dirty="0">
                <a:ln>
                  <a:noFill/>
                </a:ln>
                <a:solidFill>
                  <a:schemeClr val="tx1"/>
                </a:solidFill>
                <a:effectLst/>
                <a:cs typeface="Arial" panose="020B0604020202020204" pitchFamily="34" charset="0"/>
              </a:rPr>
              <a:t>. </a:t>
            </a:r>
          </a:p>
        </p:txBody>
      </p:sp>
      <p:pic>
        <p:nvPicPr>
          <p:cNvPr id="6" name="Obraz 5">
            <a:extLst>
              <a:ext uri="{FF2B5EF4-FFF2-40B4-BE49-F238E27FC236}">
                <a16:creationId xmlns:a16="http://schemas.microsoft.com/office/drawing/2014/main" id="{FC5B8F63-36E4-F7BF-CB9D-EB6E6139E2EF}"/>
              </a:ext>
            </a:extLst>
          </p:cNvPr>
          <p:cNvPicPr>
            <a:picLocks noChangeAspect="1"/>
          </p:cNvPicPr>
          <p:nvPr/>
        </p:nvPicPr>
        <p:blipFill>
          <a:blip r:embed="rId2"/>
          <a:stretch>
            <a:fillRect/>
          </a:stretch>
        </p:blipFill>
        <p:spPr>
          <a:xfrm>
            <a:off x="7834899" y="1911061"/>
            <a:ext cx="3829584" cy="2905530"/>
          </a:xfrm>
          <a:prstGeom prst="rect">
            <a:avLst/>
          </a:prstGeom>
        </p:spPr>
      </p:pic>
    </p:spTree>
    <p:extLst>
      <p:ext uri="{BB962C8B-B14F-4D97-AF65-F5344CB8AC3E}">
        <p14:creationId xmlns:p14="http://schemas.microsoft.com/office/powerpoint/2010/main" val="3714972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7596C49-56E9-BB70-2AAC-D1C6C362DC4E}"/>
              </a:ext>
            </a:extLst>
          </p:cNvPr>
          <p:cNvSpPr>
            <a:spLocks noGrp="1"/>
          </p:cNvSpPr>
          <p:nvPr>
            <p:ph type="title"/>
          </p:nvPr>
        </p:nvSpPr>
        <p:spPr/>
        <p:txBody>
          <a:bodyPr/>
          <a:lstStyle/>
          <a:p>
            <a:r>
              <a:rPr lang="pl-PL" dirty="0"/>
              <a:t>Przykłady Działania</a:t>
            </a:r>
          </a:p>
        </p:txBody>
      </p:sp>
      <p:sp>
        <p:nvSpPr>
          <p:cNvPr id="4" name="pole tekstowe 3">
            <a:extLst>
              <a:ext uri="{FF2B5EF4-FFF2-40B4-BE49-F238E27FC236}">
                <a16:creationId xmlns:a16="http://schemas.microsoft.com/office/drawing/2014/main" id="{D4CB8993-1160-0266-892C-030E09383E5C}"/>
              </a:ext>
            </a:extLst>
          </p:cNvPr>
          <p:cNvSpPr txBox="1"/>
          <p:nvPr/>
        </p:nvSpPr>
        <p:spPr>
          <a:xfrm>
            <a:off x="1141412" y="2097088"/>
            <a:ext cx="9623997" cy="1938992"/>
          </a:xfrm>
          <a:prstGeom prst="rect">
            <a:avLst/>
          </a:prstGeom>
          <a:noFill/>
        </p:spPr>
        <p:txBody>
          <a:bodyPr wrap="square">
            <a:spAutoFit/>
          </a:bodyPr>
          <a:lstStyle/>
          <a:p>
            <a:r>
              <a:rPr lang="pl-PL" sz="2400" dirty="0"/>
              <a:t>Działanie programu przedstawiono na wizualizacjach. Dla zadanego punktu (zielony kolor), system podświetla aktualnie testowany separator (kolor pomarańczowy) oraz konkretny segment (kolor niebieski). Wynikiem działania algorytmu jest wskazanie krawędzi regionu zawierającego punkt, co oznaczono kolorem czerwonym</a:t>
            </a:r>
          </a:p>
        </p:txBody>
      </p:sp>
    </p:spTree>
    <p:extLst>
      <p:ext uri="{BB962C8B-B14F-4D97-AF65-F5344CB8AC3E}">
        <p14:creationId xmlns:p14="http://schemas.microsoft.com/office/powerpoint/2010/main" val="1022760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D6480B6-97CC-4D23-F267-14CD748F78FB}"/>
              </a:ext>
            </a:extLst>
          </p:cNvPr>
          <p:cNvSpPr>
            <a:spLocks noGrp="1"/>
          </p:cNvSpPr>
          <p:nvPr>
            <p:ph type="title"/>
          </p:nvPr>
        </p:nvSpPr>
        <p:spPr/>
        <p:txBody>
          <a:bodyPr/>
          <a:lstStyle/>
          <a:p>
            <a:r>
              <a:rPr lang="pl-PL" dirty="0"/>
              <a:t>Zbiór wygenerowany proceduralnie</a:t>
            </a:r>
          </a:p>
        </p:txBody>
      </p:sp>
      <p:pic>
        <p:nvPicPr>
          <p:cNvPr id="11" name="Obraz 10">
            <a:extLst>
              <a:ext uri="{FF2B5EF4-FFF2-40B4-BE49-F238E27FC236}">
                <a16:creationId xmlns:a16="http://schemas.microsoft.com/office/drawing/2014/main" id="{8A818BAA-8E8F-B8B8-CA08-58FECB0BCD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2816" y="2057846"/>
            <a:ext cx="5575513" cy="4181636"/>
          </a:xfrm>
          <a:prstGeom prst="rect">
            <a:avLst/>
          </a:prstGeom>
        </p:spPr>
      </p:pic>
    </p:spTree>
    <p:extLst>
      <p:ext uri="{BB962C8B-B14F-4D97-AF65-F5344CB8AC3E}">
        <p14:creationId xmlns:p14="http://schemas.microsoft.com/office/powerpoint/2010/main" val="2324352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F7AFD16-F9B7-82E4-D1F7-B9668CDFB148}"/>
              </a:ext>
            </a:extLst>
          </p:cNvPr>
          <p:cNvSpPr>
            <a:spLocks noGrp="1"/>
          </p:cNvSpPr>
          <p:nvPr>
            <p:ph type="title"/>
          </p:nvPr>
        </p:nvSpPr>
        <p:spPr/>
        <p:txBody>
          <a:bodyPr/>
          <a:lstStyle/>
          <a:p>
            <a:r>
              <a:rPr lang="pl-PL" dirty="0"/>
              <a:t>Zbiór Wygenerowany losowo</a:t>
            </a:r>
          </a:p>
        </p:txBody>
      </p:sp>
      <p:pic>
        <p:nvPicPr>
          <p:cNvPr id="5" name="Symbol zastępczy zawartości 4">
            <a:extLst>
              <a:ext uri="{FF2B5EF4-FFF2-40B4-BE49-F238E27FC236}">
                <a16:creationId xmlns:a16="http://schemas.microsoft.com/office/drawing/2014/main" id="{714F9E8C-D3A4-788B-C4A2-035668D9F1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1915" y="1950974"/>
            <a:ext cx="5824993" cy="4368746"/>
          </a:xfrm>
        </p:spPr>
      </p:pic>
    </p:spTree>
    <p:extLst>
      <p:ext uri="{BB962C8B-B14F-4D97-AF65-F5344CB8AC3E}">
        <p14:creationId xmlns:p14="http://schemas.microsoft.com/office/powerpoint/2010/main" val="700107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4F19350-93C6-1392-6F7F-16F851A24959}"/>
              </a:ext>
            </a:extLst>
          </p:cNvPr>
          <p:cNvSpPr>
            <a:spLocks noGrp="1"/>
          </p:cNvSpPr>
          <p:nvPr>
            <p:ph type="title"/>
          </p:nvPr>
        </p:nvSpPr>
        <p:spPr/>
        <p:txBody>
          <a:bodyPr/>
          <a:lstStyle/>
          <a:p>
            <a:r>
              <a:rPr lang="pl-PL" dirty="0"/>
              <a:t>Obsługa przypadków brzegowych</a:t>
            </a:r>
          </a:p>
        </p:txBody>
      </p:sp>
      <p:sp>
        <p:nvSpPr>
          <p:cNvPr id="4" name="Rectangle 1">
            <a:extLst>
              <a:ext uri="{FF2B5EF4-FFF2-40B4-BE49-F238E27FC236}">
                <a16:creationId xmlns:a16="http://schemas.microsoft.com/office/drawing/2014/main" id="{7FC698C3-AC68-F914-CEB1-673EFE024EDF}"/>
              </a:ext>
            </a:extLst>
          </p:cNvPr>
          <p:cNvSpPr>
            <a:spLocks noGrp="1" noChangeArrowheads="1"/>
          </p:cNvSpPr>
          <p:nvPr>
            <p:ph idx="1"/>
          </p:nvPr>
        </p:nvSpPr>
        <p:spPr bwMode="auto">
          <a:xfrm>
            <a:off x="1141412" y="2138934"/>
            <a:ext cx="5975825"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l-PL" altLang="pl-PL" b="0" i="0" u="none" strike="noStrike" cap="none" normalizeH="0" baseline="0" dirty="0">
                <a:ln>
                  <a:noFill/>
                </a:ln>
                <a:solidFill>
                  <a:schemeClr val="tx1"/>
                </a:solidFill>
                <a:effectLst/>
                <a:latin typeface="Arial" panose="020B0604020202020204" pitchFamily="34" charset="0"/>
                <a:cs typeface="Arial" panose="020B0604020202020204" pitchFamily="34" charset="0"/>
              </a:rPr>
              <a:t>W implementacji uwzględniono problemy numeryczne typowe dla geometrii obliczeniowej. Zastosowano stałą </a:t>
            </a:r>
          </a:p>
          <a:p>
            <a:pPr marL="0" marR="0" lvl="0" indent="0" algn="l" defTabSz="914400" rtl="0" eaLnBrk="0" fontAlgn="base" latinLnBrk="0" hangingPunct="0">
              <a:lnSpc>
                <a:spcPct val="100000"/>
              </a:lnSpc>
              <a:spcBef>
                <a:spcPct val="0"/>
              </a:spcBef>
              <a:spcAft>
                <a:spcPct val="0"/>
              </a:spcAft>
              <a:buClrTx/>
              <a:buSzTx/>
              <a:buFontTx/>
              <a:buNone/>
              <a:tabLst/>
            </a:pPr>
            <a:r>
              <a:rPr kumimoji="0" lang="pl-PL" altLang="pl-PL"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eps</a:t>
            </a:r>
            <a:r>
              <a:rPr kumimoji="0" lang="pl-PL" altLang="pl-PL"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rzędu 10^-12 do porównań zmiennoprzecinkowych. Obsłużono również przypadki zdegenerowane, takie jak położenie punktu idealnie na krawędzi separatora.</a:t>
            </a:r>
          </a:p>
        </p:txBody>
      </p:sp>
      <p:pic>
        <p:nvPicPr>
          <p:cNvPr id="6" name="Obraz 5">
            <a:extLst>
              <a:ext uri="{FF2B5EF4-FFF2-40B4-BE49-F238E27FC236}">
                <a16:creationId xmlns:a16="http://schemas.microsoft.com/office/drawing/2014/main" id="{4855B1BD-2E6A-AB57-FFF5-8E67FDFEB5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2610" y="2138934"/>
            <a:ext cx="4135225" cy="3101419"/>
          </a:xfrm>
          <a:prstGeom prst="rect">
            <a:avLst/>
          </a:prstGeom>
        </p:spPr>
      </p:pic>
    </p:spTree>
    <p:extLst>
      <p:ext uri="{BB962C8B-B14F-4D97-AF65-F5344CB8AC3E}">
        <p14:creationId xmlns:p14="http://schemas.microsoft.com/office/powerpoint/2010/main" val="2278160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BBD4876-87D1-26E8-B312-18A64C7F1DAB}"/>
              </a:ext>
            </a:extLst>
          </p:cNvPr>
          <p:cNvSpPr>
            <a:spLocks noGrp="1"/>
          </p:cNvSpPr>
          <p:nvPr>
            <p:ph type="title"/>
          </p:nvPr>
        </p:nvSpPr>
        <p:spPr/>
        <p:txBody>
          <a:bodyPr/>
          <a:lstStyle/>
          <a:p>
            <a:r>
              <a:rPr lang="pl-PL" dirty="0"/>
              <a:t>Podsumowanie</a:t>
            </a:r>
          </a:p>
        </p:txBody>
      </p:sp>
      <p:sp>
        <p:nvSpPr>
          <p:cNvPr id="3" name="Symbol zastępczy zawartości 2">
            <a:extLst>
              <a:ext uri="{FF2B5EF4-FFF2-40B4-BE49-F238E27FC236}">
                <a16:creationId xmlns:a16="http://schemas.microsoft.com/office/drawing/2014/main" id="{AA5E92E6-5C3C-78F1-5415-AEADEFD9E65E}"/>
              </a:ext>
            </a:extLst>
          </p:cNvPr>
          <p:cNvSpPr>
            <a:spLocks noGrp="1"/>
          </p:cNvSpPr>
          <p:nvPr>
            <p:ph idx="1"/>
          </p:nvPr>
        </p:nvSpPr>
        <p:spPr/>
        <p:txBody>
          <a:bodyPr/>
          <a:lstStyle/>
          <a:p>
            <a:pPr marL="0" indent="0">
              <a:buNone/>
            </a:pPr>
            <a:r>
              <a:rPr lang="pl-PL" dirty="0"/>
              <a:t>Metoda Separatorów charakteryzuje się wysoką efektywnością fazy zapytań, co czyni ją odpowiednią dla statycznych podziałów mapy. Kluczowym aspektem poprawnego działania jest przygotowanie danych, obejmujący triangulację i wyznaczenie wag planarnych. Implementacja potwierdziła poprawność i wydajność metody dla zróżnicowanych danych testowych.</a:t>
            </a:r>
          </a:p>
        </p:txBody>
      </p:sp>
    </p:spTree>
    <p:extLst>
      <p:ext uri="{BB962C8B-B14F-4D97-AF65-F5344CB8AC3E}">
        <p14:creationId xmlns:p14="http://schemas.microsoft.com/office/powerpoint/2010/main" val="2993015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09B761F-3F45-9524-DE23-01132F0590A3}"/>
              </a:ext>
            </a:extLst>
          </p:cNvPr>
          <p:cNvSpPr>
            <a:spLocks noGrp="1"/>
          </p:cNvSpPr>
          <p:nvPr>
            <p:ph type="title"/>
          </p:nvPr>
        </p:nvSpPr>
        <p:spPr/>
        <p:txBody>
          <a:bodyPr/>
          <a:lstStyle/>
          <a:p>
            <a:r>
              <a:rPr lang="pl-PL" dirty="0"/>
              <a:t>Bibliografia</a:t>
            </a:r>
          </a:p>
        </p:txBody>
      </p:sp>
      <p:sp>
        <p:nvSpPr>
          <p:cNvPr id="3" name="Symbol zastępczy zawartości 2">
            <a:extLst>
              <a:ext uri="{FF2B5EF4-FFF2-40B4-BE49-F238E27FC236}">
                <a16:creationId xmlns:a16="http://schemas.microsoft.com/office/drawing/2014/main" id="{E28E2485-81FE-B8A0-E669-7C8000C7F9C9}"/>
              </a:ext>
            </a:extLst>
          </p:cNvPr>
          <p:cNvSpPr>
            <a:spLocks noGrp="1"/>
          </p:cNvSpPr>
          <p:nvPr>
            <p:ph idx="1"/>
          </p:nvPr>
        </p:nvSpPr>
        <p:spPr>
          <a:xfrm>
            <a:off x="1141412" y="2249487"/>
            <a:ext cx="10651520" cy="3541714"/>
          </a:xfrm>
        </p:spPr>
        <p:txBody>
          <a:bodyPr>
            <a:normAutofit lnSpcReduction="10000"/>
          </a:bodyPr>
          <a:lstStyle/>
          <a:p>
            <a:pPr marL="0" indent="0">
              <a:buNone/>
            </a:pPr>
            <a:endParaRPr lang="pl-PL" dirty="0"/>
          </a:p>
          <a:p>
            <a:r>
              <a:rPr lang="pl-PL" dirty="0"/>
              <a:t>R. </a:t>
            </a:r>
            <a:r>
              <a:rPr lang="pl-PL" dirty="0" err="1"/>
              <a:t>Tamassia</a:t>
            </a:r>
            <a:r>
              <a:rPr lang="pl-PL" dirty="0"/>
              <a:t>, Brown University, (1993) </a:t>
            </a:r>
            <a:r>
              <a:rPr lang="pl-PL" dirty="0">
                <a:hlinkClick r:id="rId2"/>
              </a:rPr>
              <a:t>https://cs.brown.edu/courses/cs252/misc/resources/lectures/pdf/notes05.pdf</a:t>
            </a:r>
            <a:endParaRPr lang="pl-PL" dirty="0"/>
          </a:p>
          <a:p>
            <a:r>
              <a:rPr lang="pl-PL" dirty="0"/>
              <a:t>D. T. Lee, F. P. </a:t>
            </a:r>
            <a:r>
              <a:rPr lang="pl-PL" dirty="0" err="1"/>
              <a:t>Preparta</a:t>
            </a:r>
            <a:r>
              <a:rPr lang="pl-PL" dirty="0"/>
              <a:t>, University of Illinois (1976) </a:t>
            </a:r>
            <a:r>
              <a:rPr lang="pl-PL" dirty="0">
                <a:hlinkClick r:id="rId3"/>
              </a:rPr>
              <a:t>https://dl.acm.org/doi/epdf/10.1145/800113.803653</a:t>
            </a:r>
            <a:endParaRPr lang="pl-PL" dirty="0"/>
          </a:p>
          <a:p>
            <a:r>
              <a:rPr lang="pl-PL" dirty="0"/>
              <a:t>H. </a:t>
            </a:r>
            <a:r>
              <a:rPr lang="pl-PL" dirty="0" err="1"/>
              <a:t>Edelsbrunner</a:t>
            </a:r>
            <a:r>
              <a:rPr lang="pl-PL" dirty="0"/>
              <a:t>, L. J. </a:t>
            </a:r>
            <a:r>
              <a:rPr lang="pl-PL" dirty="0" err="1"/>
              <a:t>Guibas</a:t>
            </a:r>
            <a:r>
              <a:rPr lang="pl-PL" dirty="0"/>
              <a:t>, J. </a:t>
            </a:r>
            <a:r>
              <a:rPr lang="pl-PL" dirty="0" err="1"/>
              <a:t>Stolfi</a:t>
            </a:r>
            <a:r>
              <a:rPr lang="pl-PL" dirty="0"/>
              <a:t>, (1986) </a:t>
            </a:r>
            <a:r>
              <a:rPr lang="pl-PL" dirty="0">
                <a:hlinkClick r:id="rId4"/>
              </a:rPr>
              <a:t>https://graphics.stanford.edu/courses/cs268-11-spring/notes/opt_point_loc.pdf</a:t>
            </a:r>
            <a:endParaRPr lang="pl-PL" dirty="0"/>
          </a:p>
          <a:p>
            <a:pPr marL="0" indent="0">
              <a:buNone/>
            </a:pPr>
            <a:endParaRPr lang="pl-PL" dirty="0"/>
          </a:p>
        </p:txBody>
      </p:sp>
    </p:spTree>
    <p:extLst>
      <p:ext uri="{BB962C8B-B14F-4D97-AF65-F5344CB8AC3E}">
        <p14:creationId xmlns:p14="http://schemas.microsoft.com/office/powerpoint/2010/main" val="4166644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7C2F286-097F-ACF5-E989-1122B542E7BA}"/>
              </a:ext>
            </a:extLst>
          </p:cNvPr>
          <p:cNvSpPr>
            <a:spLocks noGrp="1"/>
          </p:cNvSpPr>
          <p:nvPr>
            <p:ph type="title"/>
          </p:nvPr>
        </p:nvSpPr>
        <p:spPr/>
        <p:txBody>
          <a:bodyPr/>
          <a:lstStyle/>
          <a:p>
            <a:r>
              <a:rPr lang="pl-PL" dirty="0"/>
              <a:t>Koniec</a:t>
            </a:r>
          </a:p>
        </p:txBody>
      </p:sp>
      <p:sp>
        <p:nvSpPr>
          <p:cNvPr id="3" name="Symbol zastępczy zawartości 2">
            <a:extLst>
              <a:ext uri="{FF2B5EF4-FFF2-40B4-BE49-F238E27FC236}">
                <a16:creationId xmlns:a16="http://schemas.microsoft.com/office/drawing/2014/main" id="{ABAEA2A6-A4FB-20F4-AB53-5976C2640519}"/>
              </a:ext>
            </a:extLst>
          </p:cNvPr>
          <p:cNvSpPr>
            <a:spLocks noGrp="1"/>
          </p:cNvSpPr>
          <p:nvPr>
            <p:ph idx="1"/>
          </p:nvPr>
        </p:nvSpPr>
        <p:spPr/>
        <p:txBody>
          <a:bodyPr/>
          <a:lstStyle/>
          <a:p>
            <a:pPr marL="0" indent="0">
              <a:buNone/>
            </a:pPr>
            <a:r>
              <a:rPr lang="pl-PL" dirty="0"/>
              <a:t>Dziękujemy za uwagę</a:t>
            </a:r>
          </a:p>
        </p:txBody>
      </p:sp>
    </p:spTree>
    <p:extLst>
      <p:ext uri="{BB962C8B-B14F-4D97-AF65-F5344CB8AC3E}">
        <p14:creationId xmlns:p14="http://schemas.microsoft.com/office/powerpoint/2010/main" val="23839837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bwód">
  <a:themeElements>
    <a:clrScheme name="Obwód">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bwód">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bwód">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TM04033919[[fn=Obwód]]</Template>
  <TotalTime>684</TotalTime>
  <Words>1090</Words>
  <Application>Microsoft Office PowerPoint</Application>
  <PresentationFormat>Panoramiczny</PresentationFormat>
  <Paragraphs>48</Paragraphs>
  <Slides>21</Slides>
  <Notes>0</Notes>
  <HiddenSlides>0</HiddenSlides>
  <MMClips>0</MMClips>
  <ScaleCrop>false</ScaleCrop>
  <HeadingPairs>
    <vt:vector size="6" baseType="variant">
      <vt:variant>
        <vt:lpstr>Używane czcionki</vt:lpstr>
      </vt:variant>
      <vt:variant>
        <vt:i4>2</vt:i4>
      </vt:variant>
      <vt:variant>
        <vt:lpstr>Motyw</vt:lpstr>
      </vt:variant>
      <vt:variant>
        <vt:i4>1</vt:i4>
      </vt:variant>
      <vt:variant>
        <vt:lpstr>Tytuły slajdów</vt:lpstr>
      </vt:variant>
      <vt:variant>
        <vt:i4>21</vt:i4>
      </vt:variant>
    </vt:vector>
  </HeadingPairs>
  <TitlesOfParts>
    <vt:vector size="24" baseType="lpstr">
      <vt:lpstr>Arial</vt:lpstr>
      <vt:lpstr>Tw Cen MT</vt:lpstr>
      <vt:lpstr>Obwód</vt:lpstr>
      <vt:lpstr>Lokalizacja punktu w przestrzeni dwuwymiarowej, Metoda Separatorów</vt:lpstr>
      <vt:lpstr>Definicja Problemu</vt:lpstr>
      <vt:lpstr>Założenia wstępne – Monotoniczność</vt:lpstr>
      <vt:lpstr>Reprezentacja Grafowa</vt:lpstr>
      <vt:lpstr>Definicja Separatora</vt:lpstr>
      <vt:lpstr>Wyznaczanie Wag – Idea przepływu</vt:lpstr>
      <vt:lpstr>Wyznaczanie Wag – Realizacja Dwuprzebiegowa</vt:lpstr>
      <vt:lpstr>Algorytm Generowania Łańcuchów (Separatorów)</vt:lpstr>
      <vt:lpstr>Konstrukcja Regionów</vt:lpstr>
      <vt:lpstr>Budowa Drzewa Poszukiwań</vt:lpstr>
      <vt:lpstr>Wizualizacja DrzewA poszukiwań</vt:lpstr>
      <vt:lpstr>Algorytm Zapytania – Teoria</vt:lpstr>
      <vt:lpstr>Algorytm Zapytania – IMplementacja</vt:lpstr>
      <vt:lpstr>Konstrukcja Wyniku</vt:lpstr>
      <vt:lpstr>Przykłady Działania</vt:lpstr>
      <vt:lpstr>Zbiór wygenerowany proceduralnie</vt:lpstr>
      <vt:lpstr>Zbiór Wygenerowany losowo</vt:lpstr>
      <vt:lpstr>Obsługa przypadków brzegowych</vt:lpstr>
      <vt:lpstr>Podsumowanie</vt:lpstr>
      <vt:lpstr>Bibliografia</vt:lpstr>
      <vt:lpstr>Koniec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Jacek Łoboda</dc:creator>
  <cp:lastModifiedBy>Jacek Łoboda</cp:lastModifiedBy>
  <cp:revision>5</cp:revision>
  <dcterms:created xsi:type="dcterms:W3CDTF">2026-01-07T09:57:27Z</dcterms:created>
  <dcterms:modified xsi:type="dcterms:W3CDTF">2026-01-12T13:06:14Z</dcterms:modified>
</cp:coreProperties>
</file>
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6" r:id="rId2"/>
    <p:sldId id="257" r:id="rId3"/>
    <p:sldId id="258" r:id="rId4"/>
    <p:sldId id="267" r:id="rId5"/>
    <p:sldId id="259" r:id="rId6"/>
    <p:sldId id="260" r:id="rId7"/>
    <p:sldId id="268" r:id="rId8"/>
    <p:sldId id="261" r:id="rId9"/>
    <p:sldId id="269" r:id="rId10"/>
    <p:sldId id="262" r:id="rId11"/>
    <p:sldId id="270" r:id="rId12"/>
    <p:sldId id="271" r:id="rId13"/>
    <p:sldId id="263" r:id="rId14"/>
    <p:sldId id="264" r:id="rId15"/>
    <p:sldId id="265" r:id="rId16"/>
    <p:sldId id="266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5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24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6E37D865-3556-4CE5-B574-A35DADBAEBFC}" type="datetimeFigureOut">
              <a:rPr lang="pl-PL" smtClean="0"/>
              <a:t>07.01.2026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4676333-3DA7-4B6A-90D3-D386D3919E5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246487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7D865-3556-4CE5-B574-A35DADBAEBFC}" type="datetimeFigureOut">
              <a:rPr lang="pl-PL" smtClean="0"/>
              <a:t>07.01.2026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76333-3DA7-4B6A-90D3-D386D3919E5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418527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7D865-3556-4CE5-B574-A35DADBAEBFC}" type="datetimeFigureOut">
              <a:rPr lang="pl-PL" smtClean="0"/>
              <a:t>07.01.2026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76333-3DA7-4B6A-90D3-D386D3919E5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783769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7D865-3556-4CE5-B574-A35DADBAEBFC}" type="datetimeFigureOut">
              <a:rPr lang="pl-PL" smtClean="0"/>
              <a:t>07.01.2026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76333-3DA7-4B6A-90D3-D386D3919E5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7814806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7D865-3556-4CE5-B574-A35DADBAEBFC}" type="datetimeFigureOut">
              <a:rPr lang="pl-PL" smtClean="0"/>
              <a:t>07.01.2026</a:t>
            </a:fld>
            <a:endParaRPr lang="pl-P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76333-3DA7-4B6A-90D3-D386D3919E5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7037236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7D865-3556-4CE5-B574-A35DADBAEBFC}" type="datetimeFigureOut">
              <a:rPr lang="pl-PL" smtClean="0"/>
              <a:t>07.01.2026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76333-3DA7-4B6A-90D3-D386D3919E5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819557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7D865-3556-4CE5-B574-A35DADBAEBFC}" type="datetimeFigureOut">
              <a:rPr lang="pl-PL" smtClean="0"/>
              <a:t>07.01.2026</a:t>
            </a:fld>
            <a:endParaRPr lang="pl-P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76333-3DA7-4B6A-90D3-D386D3919E5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786478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7D865-3556-4CE5-B574-A35DADBAEBFC}" type="datetimeFigureOut">
              <a:rPr lang="pl-PL" smtClean="0"/>
              <a:t>07.01.2026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76333-3DA7-4B6A-90D3-D386D3919E5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7334137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7D865-3556-4CE5-B574-A35DADBAEBFC}" type="datetimeFigureOut">
              <a:rPr lang="pl-PL" smtClean="0"/>
              <a:t>07.01.2026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76333-3DA7-4B6A-90D3-D386D3919E5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973524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braz panoramiczny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7D865-3556-4CE5-B574-A35DADBAEBFC}" type="datetimeFigureOut">
              <a:rPr lang="pl-PL" smtClean="0"/>
              <a:t>07.01.2026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76333-3DA7-4B6A-90D3-D386D3919E5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636434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ytuł i po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7D865-3556-4CE5-B574-A35DADBAEBFC}" type="datetimeFigureOut">
              <a:rPr lang="pl-PL" smtClean="0"/>
              <a:t>07.01.2026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76333-3DA7-4B6A-90D3-D386D3919E5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482619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ferta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7D865-3556-4CE5-B574-A35DADBAEBFC}" type="datetimeFigureOut">
              <a:rPr lang="pl-PL" smtClean="0"/>
              <a:t>07.01.2026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76333-3DA7-4B6A-90D3-D386D3919E55}" type="slidenum">
              <a:rPr lang="pl-PL" smtClean="0"/>
              <a:t>‹#›</a:t>
            </a:fld>
            <a:endParaRPr lang="pl-PL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082808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rta naz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7D865-3556-4CE5-B574-A35DADBAEBFC}" type="datetimeFigureOut">
              <a:rPr lang="pl-PL" smtClean="0"/>
              <a:t>07.01.2026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76333-3DA7-4B6A-90D3-D386D3919E5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497873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olum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7D865-3556-4CE5-B574-A35DADBAEBFC}" type="datetimeFigureOut">
              <a:rPr lang="pl-PL" smtClean="0"/>
              <a:t>07.01.2026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76333-3DA7-4B6A-90D3-D386D3919E5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451529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olumna obraz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7D865-3556-4CE5-B574-A35DADBAEBFC}" type="datetimeFigureOut">
              <a:rPr lang="pl-PL" smtClean="0"/>
              <a:t>07.01.2026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76333-3DA7-4B6A-90D3-D386D3919E5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857782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7D865-3556-4CE5-B574-A35DADBAEBFC}" type="datetimeFigureOut">
              <a:rPr lang="pl-PL" smtClean="0"/>
              <a:t>07.01.2026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76333-3DA7-4B6A-90D3-D386D3919E5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9708287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7D865-3556-4CE5-B574-A35DADBAEBFC}" type="datetimeFigureOut">
              <a:rPr lang="pl-PL" smtClean="0"/>
              <a:t>07.01.2026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76333-3DA7-4B6A-90D3-D386D3919E5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73506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37D865-3556-4CE5-B574-A35DADBAEBFC}" type="datetimeFigureOut">
              <a:rPr lang="pl-PL" smtClean="0"/>
              <a:t>07.01.2026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676333-3DA7-4B6A-90D3-D386D3919E5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66886208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  <p:sldLayoutId id="2147483744" r:id="rId12"/>
    <p:sldLayoutId id="2147483745" r:id="rId13"/>
    <p:sldLayoutId id="2147483746" r:id="rId14"/>
    <p:sldLayoutId id="2147483747" r:id="rId15"/>
    <p:sldLayoutId id="2147483748" r:id="rId16"/>
    <p:sldLayoutId id="214748374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image" Target="../media/image7.gi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46702A3-750C-AF6F-0FAF-B8E81776730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pl-PL" b="1" dirty="0"/>
              <a:t>Lokalizacja punktu w przestrzeni dwuwymiarowej, Metoda Separatorów (Chain Method)</a:t>
            </a:r>
            <a:endParaRPr lang="pl-PL" dirty="0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9CE1B2B4-1212-DF28-1123-3578690B74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l-PL" dirty="0"/>
              <a:t>Autorzy: Jacek Łoboda, Gabriel Wermiński</a:t>
            </a:r>
          </a:p>
        </p:txBody>
      </p:sp>
    </p:spTree>
    <p:extLst>
      <p:ext uri="{BB962C8B-B14F-4D97-AF65-F5344CB8AC3E}">
        <p14:creationId xmlns:p14="http://schemas.microsoft.com/office/powerpoint/2010/main" val="2235912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86A5716-B000-2764-EEAD-52B4515D8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b="1" dirty="0"/>
              <a:t>Definicja Problemu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B9FF4B4-6051-9B3F-BC93-391C1D3A54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/>
              <a:t>Problem lokalizacji punktu polega na znalezieniu regionu Rᵢ w podziale płaszczyzny S, który zawiera dany punkt zapytania p. Jest to fundamentalne zagadnienie w systemach informacji geograficznej (GIS) oraz grafice komputerowej, gdzie wykonuje się tysiące takich zapytań na sekundę. Naiwne przeszukiwanie liniowe o złożoności O(N) jest w takich zastosowaniach nieefektywne, dlatego celem projektu jest redukcja czasu zapytania do złożoności logarytmicznej O(log² N).</a:t>
            </a:r>
          </a:p>
        </p:txBody>
      </p:sp>
    </p:spTree>
    <p:extLst>
      <p:ext uri="{BB962C8B-B14F-4D97-AF65-F5344CB8AC3E}">
        <p14:creationId xmlns:p14="http://schemas.microsoft.com/office/powerpoint/2010/main" val="37371885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A3EA575-5B80-ACFD-9C14-82123A266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Założenia wstępne – Monotoniczność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C3AE591A-3AFC-4411-0745-67947E238C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249487"/>
            <a:ext cx="7295578" cy="354171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l-PL" dirty="0"/>
              <a:t>Fundamentalnym wymogiem metody separatorów jest monotoniczność obszarów. Oznacza to, że każda prosta pozioma przecina dany region w co najwyżej dwóch punktach. Ponieważ rzeczywiste wielokąty często są wklęsłe i nie spełniają tego warunku, konieczna jest </a:t>
            </a:r>
            <a:r>
              <a:rPr lang="pl-PL" dirty="0" err="1"/>
              <a:t>regularyzacja</a:t>
            </a:r>
            <a:r>
              <a:rPr lang="pl-PL" dirty="0"/>
              <a:t>. W projekcie zastosowano algorytm triangulacji (metoda </a:t>
            </a:r>
            <a:r>
              <a:rPr lang="pl-PL" dirty="0" err="1"/>
              <a:t>Ear</a:t>
            </a:r>
            <a:r>
              <a:rPr lang="pl-PL" dirty="0"/>
              <a:t> </a:t>
            </a:r>
            <a:r>
              <a:rPr lang="pl-PL" dirty="0" err="1"/>
              <a:t>Clipping</a:t>
            </a:r>
            <a:r>
              <a:rPr lang="pl-PL" dirty="0"/>
              <a:t>), który w fazie </a:t>
            </a:r>
            <a:r>
              <a:rPr lang="pl-PL" dirty="0" err="1"/>
              <a:t>preprocessingu</a:t>
            </a:r>
            <a:r>
              <a:rPr lang="pl-PL" dirty="0"/>
              <a:t> dzieli dowolne wielokąty na trójkąty. Trójkąty są z definicji monotoniczne, co gwarantuje poprawność dalszych kroków algorytmu.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50624951-6A3A-46B5-349E-DC8106499033}"/>
              </a:ext>
            </a:extLst>
          </p:cNvPr>
          <p:cNvSpPr txBox="1"/>
          <p:nvPr/>
        </p:nvSpPr>
        <p:spPr>
          <a:xfrm>
            <a:off x="3033074" y="3246690"/>
            <a:ext cx="61038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l-PL" dirty="0"/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D2AB049E-2AB7-E32F-C599-375B734C9C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l-PL"/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D80D97A3-4BB8-0378-38D2-D8B019CB06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l-PL"/>
          </a:p>
        </p:txBody>
      </p:sp>
      <p:pic>
        <p:nvPicPr>
          <p:cNvPr id="13" name="Obraz 12" descr="Obraz zawierający linia, diagram, origami&#10;&#10;Zawartość wygenerowana przez AI może być niepoprawna.">
            <a:extLst>
              <a:ext uri="{FF2B5EF4-FFF2-40B4-BE49-F238E27FC236}">
                <a16:creationId xmlns:a16="http://schemas.microsoft.com/office/drawing/2014/main" id="{30541C3B-7BF3-F818-5CB0-74F54F9953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2362" y="2097088"/>
            <a:ext cx="2686425" cy="3639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3932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7750C4C-51CF-D89B-C780-5F744BEBF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Reprezentacja Grafowa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F1C350F8-62F5-2A71-3E14-EE8FB4A854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9774827" cy="3541714"/>
          </a:xfrm>
        </p:spPr>
        <p:txBody>
          <a:bodyPr/>
          <a:lstStyle/>
          <a:p>
            <a:r>
              <a:rPr lang="pl-PL" dirty="0"/>
              <a:t>Podział płaszczyzny reprezentowany jest jako Skierowany Graf Acykliczny. W implementacji wykorzystano klasę </a:t>
            </a:r>
            <a:r>
              <a:rPr lang="pl-PL" dirty="0" err="1"/>
              <a:t>Vertex</a:t>
            </a:r>
            <a:r>
              <a:rPr lang="pl-PL" dirty="0"/>
              <a:t>, przechowującą listy sąsiedztwa każdego punktu. Kluczowym zabiegiem jest posortowanie wierzchołków na płaszczyźnie względem współrzędnej Y oraz skierowanie wszystkich krawędzi "w górę". Krawędzie wychodzące z każdego wierzchołka są dodatkowo sortowane kątowo (od lewej do prawej), co pozwala na jednoznaczną identyfikację skrajnych ścieżek.</a:t>
            </a:r>
          </a:p>
        </p:txBody>
      </p:sp>
    </p:spTree>
    <p:extLst>
      <p:ext uri="{BB962C8B-B14F-4D97-AF65-F5344CB8AC3E}">
        <p14:creationId xmlns:p14="http://schemas.microsoft.com/office/powerpoint/2010/main" val="1683506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14120FB-8E1B-AC9E-BF3C-83C45B28F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Definicja Separatora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CA635ED2-C142-6578-677F-206443772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6013532" cy="3541714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pl-PL" dirty="0"/>
              <a:t>Separatorem nazywamy monotoniczny łańcuch krawędzi biegnący od najniższego (źródło) do najwyższego (ujście) wierzchołka grafu. Kluczową własnością separatora jest to, że dzieli on płaszczyznę (lub jej fragment) na dwie rozłączne części: lewą i prawą. Metoda opiera się na pokryciu całego grafu rozłącznymi krawędziowo separatorami, które są uporządkowane względem osi X (od lewej do prawej). Pozwala to na szybkie odrzucanie połowy obszaru poszukiwań w każdym kroku.</a:t>
            </a:r>
          </a:p>
        </p:txBody>
      </p:sp>
      <p:pic>
        <p:nvPicPr>
          <p:cNvPr id="5" name="Obraz 4" descr="Obraz zawierający linia, diagram, Prostokąt, Wykres&#10;&#10;Zawartość wygenerowana przez AI może być niepoprawna.">
            <a:extLst>
              <a:ext uri="{FF2B5EF4-FFF2-40B4-BE49-F238E27FC236}">
                <a16:creationId xmlns:a16="http://schemas.microsoft.com/office/drawing/2014/main" id="{3B9A34DC-A410-57EC-E08C-D2993DDF1E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2320" y="2249487"/>
            <a:ext cx="3631053" cy="2709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15192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3792D08-F264-B2B5-EA6A-BA59EF395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Wyznaczanie Wag – Idea przepływu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EB40073D-24AE-3327-8BE8-F7B529052D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Aby podzielić graf na separatory, należy ustalić "przepustowość" krawędzi. Implementacja wykorzystuje funkcję </a:t>
            </a:r>
            <a:r>
              <a:rPr lang="pl-PL" dirty="0" err="1"/>
              <a:t>compute_planar_weights</a:t>
            </a:r>
            <a:r>
              <a:rPr lang="pl-PL" dirty="0"/>
              <a:t>, która traktuje graf jak sieć przepływową. Celem jest przypisanie każdej krawędzi wagi, która informuje, ile separatorów będzie przez nią przechodzić. Suma wag krawędzi wychodzących ze źródła determinuje całkowitą liczbę separatorów w strukturze.</a:t>
            </a:r>
          </a:p>
        </p:txBody>
      </p:sp>
    </p:spTree>
    <p:extLst>
      <p:ext uri="{BB962C8B-B14F-4D97-AF65-F5344CB8AC3E}">
        <p14:creationId xmlns:p14="http://schemas.microsoft.com/office/powerpoint/2010/main" val="11811102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9E56AC0-DCF7-01DE-018D-BA8383DEF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Wyznaczanie Wag – Realizacja Dwuprzebiegowa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F839CA2-812D-9A8E-979F-C9258113798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41413" y="2184720"/>
            <a:ext cx="10038777" cy="30008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l-PL" altLang="pl-P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Algorytm obliczania wag składa się z dwóch faz.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l-PL" altLang="pl-PL" dirty="0"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l-PL" altLang="pl-P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W fazie </a:t>
            </a:r>
            <a:r>
              <a:rPr kumimoji="0" lang="pl-PL" altLang="pl-PL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Forward</a:t>
            </a:r>
            <a:r>
              <a:rPr kumimoji="0" lang="pl-PL" altLang="pl-PL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Pass</a:t>
            </a:r>
            <a:r>
              <a:rPr kumimoji="0" lang="pl-PL" altLang="pl-P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(dół - góra) wagi są propagowane w górę, sumując wpływy z krawędzi wejściowych. Jeśli wierzchołek ma więcej wpływu niż wypływu, nadmiar kierowany jest na jego skrajną lewą krawędź wyjściową.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l-PL" altLang="pl-PL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l-PL" altLang="pl-P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W fazie </a:t>
            </a:r>
            <a:r>
              <a:rPr kumimoji="0" lang="pl-PL" altLang="pl-PL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Backward</a:t>
            </a:r>
            <a:r>
              <a:rPr kumimoji="0" lang="pl-PL" altLang="pl-PL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Pass</a:t>
            </a:r>
            <a:r>
              <a:rPr kumimoji="0" lang="pl-PL" altLang="pl-P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(góra - dół) następuje korekta – brakujący przepływ jest uzupełniany, co gwarantuje spójność bilansu przepływu w każdym węźle grafu.</a:t>
            </a:r>
            <a:endParaRPr kumimoji="0" lang="pl-PL" altLang="pl-PL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37171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888348A-349A-190E-CE20-816E900DA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Algorytm Generowania Łańcuchów (Separatorów)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B13681DA-CA30-5887-526E-F18D41747C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/>
              <a:t>Mając wyznaczone wagi, funkcja </a:t>
            </a:r>
            <a:r>
              <a:rPr lang="pl-PL" dirty="0" err="1"/>
              <a:t>generate_monotone_chains</a:t>
            </a:r>
            <a:r>
              <a:rPr lang="pl-PL" dirty="0"/>
              <a:t> wyodrębnia poszczególne separatory. Zastosowano podejście zachłanne: startując od źródła, algorytm zawsze wybiera skrajnie prawą krawędź posiadającą dodatnią wagę. Po przejściu przez krawędź jej waga jest dekrementowana Proces ten powtarza się, aż wszystkie wagi zostaną wyzerowane, a graf zostanie całkowicie pokryty rozłącznymi krawędziowo łańcuchami.</a:t>
            </a:r>
          </a:p>
        </p:txBody>
      </p:sp>
    </p:spTree>
    <p:extLst>
      <p:ext uri="{BB962C8B-B14F-4D97-AF65-F5344CB8AC3E}">
        <p14:creationId xmlns:p14="http://schemas.microsoft.com/office/powerpoint/2010/main" val="33738611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0932538-7AAD-D427-0B4E-B8B38CAF5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Budowa Drzewa Poszukiwań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E76C3BFE-8341-5AC8-D4C0-8C3C296139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Wygenerowane łańcuchy są organizowane w hierarchiczną strukturę danych – drzewo </a:t>
            </a:r>
            <a:r>
              <a:rPr lang="pl-PL" dirty="0" err="1"/>
              <a:t>SearchTreeNode</a:t>
            </a:r>
            <a:r>
              <a:rPr lang="pl-PL" dirty="0"/>
              <a:t>. Aby zapewnić logarytmiczny czas wyszukiwania, drzewo jest zbalansowane. </a:t>
            </a:r>
          </a:p>
          <a:p>
            <a:r>
              <a:rPr lang="pl-PL" dirty="0"/>
              <a:t>Jako korzeń drzewa wybierany jest separator środkowy (mediana zbioru). Łańcuchy leżące geometrycznie na lewo od mediany tworzą lewe poddrzewo, a te na prawo – prawe poddrzewo. Liście drzewa wskazują pośrednio na szukane regiony Rᵢ zawarte między dwoma sąsiednimi separatorami.</a:t>
            </a:r>
          </a:p>
          <a:p>
            <a:pPr marL="0" indent="0">
              <a:buNone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367472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D226454-3A22-D77A-0FB9-3DBD356A7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Wizualizacja </a:t>
            </a:r>
            <a:r>
              <a:rPr lang="pl-PL" dirty="0" err="1"/>
              <a:t>DrzewA</a:t>
            </a:r>
            <a:r>
              <a:rPr lang="pl-PL" dirty="0"/>
              <a:t> poszukiwań</a:t>
            </a:r>
          </a:p>
        </p:txBody>
      </p:sp>
      <p:pic>
        <p:nvPicPr>
          <p:cNvPr id="5" name="Obraz 4" descr="Obraz zawierający diagram, linia, Wykres, Czcionka&#10;&#10;Zawartość wygenerowana przez AI może być niepoprawna.">
            <a:extLst>
              <a:ext uri="{FF2B5EF4-FFF2-40B4-BE49-F238E27FC236}">
                <a16:creationId xmlns:a16="http://schemas.microsoft.com/office/drawing/2014/main" id="{0C12EE33-51AF-CDC2-53AE-51C945A409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4903" y="2249025"/>
            <a:ext cx="6759018" cy="3759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26598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DE6F26B-9477-6D74-010A-57FD79BD3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Algorytm Zapytania – Przejście przez Drzewo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1EB7579-B7FF-8D80-E611-2D6FC8B3EBF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 flipH="1">
            <a:off x="1141413" y="2767927"/>
            <a:ext cx="8970800" cy="18928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l-PL" altLang="pl-P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Lokalizacja punktu p polega na zejściu w dół drzewa BST, począwszy od korzenia. W każdym węźle (reprezentującym separator) podejmowana jest decyzja binarna: czy punkt znajduje się na lewo, czy na prawo od tego łańcucha? Decyzja ta determinuje wybór kolejnego dziecka (lewego lub prawego) i zawęża obszar poszukiwań o połowę.</a:t>
            </a:r>
            <a:endParaRPr kumimoji="0" lang="pl-PL" altLang="pl-PL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08584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5FFABE2-FA7E-B8F6-86F9-1437243AB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CD63E3F8-9CBA-0366-1104-3A0C77C2B2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9211139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61E86DE-2B5C-EEFE-C10E-39B04D517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Algorytm Wyszukiwania Punktu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87C815C6-9F91-9ECE-B32D-E8A6BFA0F8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6579141" cy="354171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l-PL" dirty="0"/>
              <a:t>Proces lokalizacji punktu p polega na zejściu w dół drzewa BST. W każdym odwiedzanym węźle (separatorze) wykonywany jest test: "czy punkt p leży na lewo, czy na prawo od tego łańcucha?". Test ten realizowany jest dwuetapowo: najpierw za pomocą wyszukiwania binarnego znajdowany jest segment separatora o współrzędnych Y końców między którymi znajduje się punkt, a następnie obliczany jest iloczyn wektorowy w celu określenia relacji lewo/prawo.</a:t>
            </a:r>
          </a:p>
        </p:txBody>
      </p:sp>
      <p:pic>
        <p:nvPicPr>
          <p:cNvPr id="5" name="Obraz 4" descr="Obraz zawierający linia, diagram, tekst, Wykres&#10;&#10;Zawartość wygenerowana przez AI może być niepoprawna.">
            <a:extLst>
              <a:ext uri="{FF2B5EF4-FFF2-40B4-BE49-F238E27FC236}">
                <a16:creationId xmlns:a16="http://schemas.microsoft.com/office/drawing/2014/main" id="{B264F892-1125-F190-F433-0ACD5DCAF6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0553" y="2436453"/>
            <a:ext cx="3990346" cy="2986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8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7596C49-56E9-BB70-2AAC-D1C6C362D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Przykłady Działania</a:t>
            </a:r>
          </a:p>
        </p:txBody>
      </p:sp>
      <p:pic>
        <p:nvPicPr>
          <p:cNvPr id="9" name="Symbol zastępczy zawartości 8">
            <a:extLst>
              <a:ext uri="{FF2B5EF4-FFF2-40B4-BE49-F238E27FC236}">
                <a16:creationId xmlns:a16="http://schemas.microsoft.com/office/drawing/2014/main" id="{D39F464A-0916-515D-3B58-E2D7E24C19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457" y="1915587"/>
            <a:ext cx="4689859" cy="3517395"/>
          </a:xfrm>
        </p:spPr>
      </p:pic>
      <p:pic>
        <p:nvPicPr>
          <p:cNvPr id="11" name="Obraz 10">
            <a:extLst>
              <a:ext uri="{FF2B5EF4-FFF2-40B4-BE49-F238E27FC236}">
                <a16:creationId xmlns:a16="http://schemas.microsoft.com/office/drawing/2014/main" id="{8A818BAA-8E8F-B8B8-CA08-58FECB0BCD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7553" y="1919925"/>
            <a:ext cx="4689858" cy="3517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7608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09B761F-3F45-9524-DE23-01132F059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Bibliografia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E28E2485-81FE-B8A0-E669-7C8000C7F9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41666449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7C2F286-097F-ACF5-E989-1122B542E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Koniec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BAEA2A6-A4FB-20F4-AB53-5976C26405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/>
              <a:t>Dziękujemy za uwagę</a:t>
            </a:r>
          </a:p>
        </p:txBody>
      </p:sp>
    </p:spTree>
    <p:extLst>
      <p:ext uri="{BB962C8B-B14F-4D97-AF65-F5344CB8AC3E}">
        <p14:creationId xmlns:p14="http://schemas.microsoft.com/office/powerpoint/2010/main" val="238398376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bwód">
  <a:themeElements>
    <a:clrScheme name="Obwód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Obwód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bwód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TM04033919[[fn=Obwód]]</Template>
  <TotalTime>57</TotalTime>
  <Words>750</Words>
  <Application>Microsoft Office PowerPoint</Application>
  <PresentationFormat>Panoramiczny</PresentationFormat>
  <Paragraphs>32</Paragraphs>
  <Slides>16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16</vt:i4>
      </vt:variant>
    </vt:vector>
  </HeadingPairs>
  <TitlesOfParts>
    <vt:vector size="20" baseType="lpstr">
      <vt:lpstr>Arial</vt:lpstr>
      <vt:lpstr>Google Sans Text</vt:lpstr>
      <vt:lpstr>Tw Cen MT</vt:lpstr>
      <vt:lpstr>Obwód</vt:lpstr>
      <vt:lpstr>Lokalizacja punktu w przestrzeni dwuwymiarowej, Metoda Separatorów (Chain Method)</vt:lpstr>
      <vt:lpstr>Definicja Problemu</vt:lpstr>
      <vt:lpstr>Założenia wstępne – Monotoniczność</vt:lpstr>
      <vt:lpstr>Reprezentacja Grafowa</vt:lpstr>
      <vt:lpstr>Definicja Separatora</vt:lpstr>
      <vt:lpstr>Wyznaczanie Wag – Idea przepływu</vt:lpstr>
      <vt:lpstr>Wyznaczanie Wag – Realizacja Dwuprzebiegowa</vt:lpstr>
      <vt:lpstr>Algorytm Generowania Łańcuchów (Separatorów)</vt:lpstr>
      <vt:lpstr>Budowa Drzewa Poszukiwań</vt:lpstr>
      <vt:lpstr>Wizualizacja DrzewA poszukiwań</vt:lpstr>
      <vt:lpstr>Algorytm Zapytania – Przejście przez Drzewo</vt:lpstr>
      <vt:lpstr>Prezentacja programu PowerPoint</vt:lpstr>
      <vt:lpstr>Algorytm Wyszukiwania Punktu</vt:lpstr>
      <vt:lpstr>Przykłady Działania</vt:lpstr>
      <vt:lpstr>Bibliografia</vt:lpstr>
      <vt:lpstr>Koniec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Jacek Łoboda</dc:creator>
  <cp:lastModifiedBy>Jacek Łoboda</cp:lastModifiedBy>
  <cp:revision>1</cp:revision>
  <dcterms:created xsi:type="dcterms:W3CDTF">2026-01-07T09:57:27Z</dcterms:created>
  <dcterms:modified xsi:type="dcterms:W3CDTF">2026-01-07T10:54:43Z</dcterms:modified>
</cp:coreProperties>
</file>